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43"/>
                </a:solidFill>
                <a:latin typeface="+mn-lt"/>
              </a:defRPr>
            </a:pPr>
            <a:r>
              <a:rPr sz="1400" b="0" i="0" u="none" strike="noStrike">
                <a:solidFill>
                  <a:srgbClr val="0F2A43"/>
                </a:solidFill>
                <a:latin typeface="+mn-lt"/>
              </a:rPr>
              <a:t>Macro-F1 by classifier (mean of 5 seeds)</a:t>
            </a:r>
          </a:p>
        </c:rich>
      </c:tx>
      <c:layout/>
      <c:overlay val="0"/>
    </c:title>
    <c:autoTitleDeleted val="0"/>
    <c:plotArea>
      <c:layout/>
      <c:barChart>
        <c:barDir val="bar"/>
        <c:grouping val="clustered"/>
        <c:varyColors val="0"/>
        <c:ser>
          <c:idx val="0"/>
          <c:order val="0"/>
          <c:tx>
            <c:strRef>
              <c:f>Sheet1!$B$1</c:f>
              <c:strCache>
                <c:ptCount val="1"/>
                <c:pt idx="0">
                  <c:v>Macro-F1</c:v>
                </c:pt>
              </c:strCache>
            </c:strRef>
          </c:tx>
          <c:spPr>
            <a:solidFill>
              <a:srgbClr val="1B7F8C"/>
            </a:solidFill>
            <a:effectLst/>
          </c:spPr>
          <c:invertIfNegative val="0"/>
          <c:dLbls>
            <c:numFmt formatCode="0.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Sheet1!$A$2:$A$7</c:f>
              <c:multiLvlStrCache>
                <c:ptCount val="6"/>
                <c:lvl>
                  <c:pt idx="0">
                    <c:v>XGBoost</c:v>
                  </c:pt>
                  <c:pt idx="1">
                    <c:v>Decision tree</c:v>
                  </c:pt>
                  <c:pt idx="2">
                    <c:v>Random forest</c:v>
                  </c:pt>
                  <c:pt idx="3">
                    <c:v>Extra trees</c:v>
                  </c:pt>
                  <c:pt idx="4">
                    <c:v>Neural network</c:v>
                  </c:pt>
                  <c:pt idx="5">
                    <c:v>Logistic regression</c:v>
                  </c:pt>
                </c:lvl>
              </c:multiLvlStrCache>
            </c:multiLvlStrRef>
          </c:cat>
          <c:val>
            <c:numRef>
              <c:f>Sheet1!$B$2:$B$7</c:f>
              <c:numCache>
                <c:formatCode>General</c:formatCode>
                <c:ptCount val="6"/>
                <c:pt idx="0">
                  <c:v>0.9103</c:v>
                </c:pt>
                <c:pt idx="1">
                  <c:v>0.908</c:v>
                </c:pt>
                <c:pt idx="2">
                  <c:v>0.8783</c:v>
                </c:pt>
                <c:pt idx="3">
                  <c:v>0.86</c:v>
                </c:pt>
                <c:pt idx="4">
                  <c:v>0.6616</c:v>
                </c:pt>
                <c:pt idx="5">
                  <c:v>0.569</c:v>
                </c:pt>
              </c:numCache>
            </c:numRef>
          </c:val>
        </c:ser>
        <c:dLbls>
          <c:numFmt formatCode="0.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9525" cap="flat">
              <a:solidFill>
                <a:srgbClr val="DDE5EA"/>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43"/>
                </a:solidFill>
                <a:latin typeface="+mn-lt"/>
              </a:defRPr>
            </a:pPr>
            <a:r>
              <a:rPr sz="1400" b="0" i="0" u="none" strike="noStrike">
                <a:solidFill>
                  <a:srgbClr val="0F2A43"/>
                </a:solidFill>
                <a:latin typeface="+mn-lt"/>
              </a:rPr>
              <a:t>Multi-class accuracy on CICIoMT2024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2E5E86"/>
            </a:solidFill>
            <a:effectLst/>
          </c:spPr>
          <c:invertIfNegative val="0"/>
          <c:dLbls>
            <c:numFmt formatCode="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L2D2, 19 classes (quoted)</c:v>
                  </c:pt>
                  <c:pt idx="1">
                    <c:v>HCLR-IDS, 18 classes (quoted)</c:v>
                  </c:pt>
                  <c:pt idx="2">
                    <c:v>This work, 19 classes</c:v>
                  </c:pt>
                </c:lvl>
              </c:multiLvlStrCache>
            </c:multiLvlStrRef>
          </c:cat>
          <c:val>
            <c:numRef>
              <c:f>Sheet1!$B$2:$B$4</c:f>
              <c:numCache>
                <c:formatCode>General</c:formatCode>
                <c:ptCount val="3"/>
                <c:pt idx="0">
                  <c:v>98</c:v>
                </c:pt>
                <c:pt idx="1">
                  <c:v>77.73</c:v>
                </c:pt>
                <c:pt idx="2">
                  <c:v>99.52</c:v>
                </c:pt>
              </c:numCache>
            </c:numRef>
          </c:val>
        </c:ser>
        <c:dLbls>
          <c:numFmt formatCode="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05"/>
          <c:min val="70"/>
        </c:scaling>
        <c:delete val="0"/>
        <c:axPos val="l"/>
        <c:majorGridlines>
          <c:spPr>
            <a:ln w="9525"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43"/>
                </a:solidFill>
                <a:latin typeface="+mn-lt"/>
              </a:defRPr>
            </a:pPr>
            <a:r>
              <a:rPr sz="1400" b="0" i="0" u="none" strike="noStrike">
                <a:solidFill>
                  <a:srgbClr val="0F2A43"/>
                </a:solidFill>
                <a:latin typeface="+mn-lt"/>
              </a:rPr>
              <a:t>Largest confusions (flows)</a:t>
            </a:r>
          </a:p>
        </c:rich>
      </c:tx>
      <c:layout/>
      <c:overlay val="0"/>
    </c:title>
    <c:autoTitleDeleted val="0"/>
    <c:plotArea>
      <c:layout/>
      <c:barChart>
        <c:barDir val="bar"/>
        <c:grouping val="clustered"/>
        <c:varyColors val="0"/>
        <c:ser>
          <c:idx val="0"/>
          <c:order val="0"/>
          <c:tx>
            <c:strRef>
              <c:f>Sheet1!$B$1</c:f>
              <c:strCache>
                <c:ptCount val="1"/>
                <c:pt idx="0">
                  <c:v>Flows</c:v>
                </c:pt>
              </c:strCache>
            </c:strRef>
          </c:tx>
          <c:spPr>
            <a:solidFill>
              <a:srgbClr val="1B7F8C"/>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Benign to ARP spoofing</c:v>
                  </c:pt>
                  <c:pt idx="1">
                    <c:v>DDoS-ICMP to DoS-ICMP</c:v>
                  </c:pt>
                  <c:pt idx="2">
                    <c:v>DDoS-Publish to DoS-Publish</c:v>
                  </c:pt>
                  <c:pt idx="3">
                    <c:v>Port scan to OS scan</c:v>
                  </c:pt>
                </c:lvl>
              </c:multiLvlStrCache>
            </c:multiLvlStrRef>
          </c:cat>
          <c:val>
            <c:numRef>
              <c:f>Sheet1!$B$2:$B$5</c:f>
              <c:numCache>
                <c:formatCode>General</c:formatCode>
                <c:ptCount val="4"/>
                <c:pt idx="0">
                  <c:v>1631</c:v>
                </c:pt>
                <c:pt idx="1">
                  <c:v>1309</c:v>
                </c:pt>
                <c:pt idx="2">
                  <c:v>1056</c:v>
                </c:pt>
                <c:pt idx="3">
                  <c:v>582</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2000"/>
          <c:min val="0"/>
        </c:scaling>
        <c:delete val="0"/>
        <c:axPos val="b"/>
        <c:majorGridlines>
          <c:spPr>
            <a:ln w="9525" cap="flat">
              <a:solidFill>
                <a:srgbClr val="DDE5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9"/>
                </a:solidFill>
                <a:latin typeface="+mn-lt"/>
              </a:defRPr>
            </a:pPr>
            <a:endParaRPr lang="en-US"/>
          </a:p>
        </c:txPr>
        <c:crossAx val="2094734554"/>
        <c:crosses val="autoZero"/>
        <c:crossBetween val="between"/>
        <c:majorUnit val="50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43"/>
                </a:solidFill>
                <a:latin typeface="+mn-lt"/>
              </a:defRPr>
            </a:pPr>
            <a:r>
              <a:rPr sz="1400" b="0" i="0" u="none" strike="noStrike">
                <a:solidFill>
                  <a:srgbClr val="0F2A43"/>
                </a:solidFill>
                <a:latin typeface="+mn-lt"/>
              </a:rPr>
              <a:t>Unsafe autonomous actions on high-stakes attacks (%)</a:t>
            </a:r>
          </a:p>
        </c:rich>
      </c:tx>
      <c:layout/>
      <c:overlay val="0"/>
    </c:title>
    <c:autoTitleDeleted val="0"/>
    <c:plotArea>
      <c:layout/>
      <c:barChart>
        <c:barDir val="col"/>
        <c:grouping val="clustered"/>
        <c:varyColors val="0"/>
        <c:ser>
          <c:idx val="0"/>
          <c:order val="0"/>
          <c:tx>
            <c:strRef>
              <c:f>Sheet1!$B$1</c:f>
              <c:strCache>
                <c:ptCount val="1"/>
                <c:pt idx="0">
                  <c:v>Unsafe autonomous actions (%)</c:v>
                </c:pt>
              </c:strCache>
            </c:strRef>
          </c:tx>
          <c:spPr>
            <a:solidFill>
              <a:srgbClr val="D1495B"/>
            </a:solidFill>
            <a:effectLst/>
          </c:spPr>
          <c:invertIfNegative val="0"/>
          <c:dLbls>
            <c:numFmt formatCode="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Fixed response</c:v>
                  </c:pt>
                  <c:pt idx="1">
                    <c:v>Without response-impact assessment</c:v>
                  </c:pt>
                  <c:pt idx="2">
                    <c:v>Full system</c:v>
                  </c:pt>
                </c:lvl>
              </c:multiLvlStrCache>
            </c:multiLvlStrRef>
          </c:cat>
          <c:val>
            <c:numRef>
              <c:f>Sheet1!$B$2:$B$4</c:f>
              <c:numCache>
                <c:formatCode>General</c:formatCode>
                <c:ptCount val="3"/>
                <c:pt idx="0">
                  <c:v>99.72</c:v>
                </c:pt>
                <c:pt idx="1">
                  <c:v>0.62</c:v>
                </c:pt>
                <c:pt idx="2">
                  <c:v>0</c:v>
                </c:pt>
              </c:numCache>
            </c:numRef>
          </c:val>
        </c:ser>
        <c:dLbls>
          <c:numFmt formatCode="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9525"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43"/>
                </a:solidFill>
                <a:latin typeface="+mn-lt"/>
              </a:defRPr>
            </a:pPr>
            <a:r>
              <a:rPr sz="1400" b="0" i="0" u="none" strike="noStrike">
                <a:solidFill>
                  <a:srgbClr val="0F2A43"/>
                </a:solidFill>
                <a:latin typeface="+mn-lt"/>
              </a:rPr>
              <a:t>Share handled without a human vs patient-dependent devices (%)</a:t>
            </a:r>
          </a:p>
        </c:rich>
      </c:tx>
      <c:layout/>
      <c:overlay val="0"/>
    </c:title>
    <c:autoTitleDeleted val="0"/>
    <c:plotArea>
      <c:layout/>
      <c:lineChart>
        <c:varyColors val="0"/>
        <c:ser>
          <c:idx val="0"/>
          <c:order val="0"/>
          <c:tx>
            <c:strRef>
              <c:f>Sheet1!$B$1</c:f>
              <c:strCache>
                <c:ptCount val="1"/>
                <c:pt idx="0">
                  <c:v>Autonomy retained (%)</c:v>
                </c:pt>
              </c:strCache>
            </c:strRef>
          </c:tx>
          <c:spPr>
            <a:solidFill>
              <a:srgbClr val="1B7F8C"/>
            </a:solidFill>
            <a:ln w="38100" cap="flat">
              <a:solidFill>
                <a:srgbClr val="1B7F8C"/>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dLblPos val="t"/>
            <c:showLegendKey val="0"/>
            <c:showVal val="1"/>
            <c:showCatName val="0"/>
            <c:showSerName val="0"/>
            <c:showPercent val="0"/>
            <c:showBubbleSize val="0"/>
            <c:showLeaderLines val="0"/>
          </c:dLbls>
          <c:marker>
            <c:symbol val="circle"/>
            <c:size val="8"/>
            <c:spPr>
              <a:solidFill>
                <a:srgbClr val="1B7F8C"/>
              </a:solidFill>
              <a:ln w="9525" cap="flat">
                <a:solidFill>
                  <a:srgbClr val="1B7F8C"/>
                </a:solidFill>
                <a:prstDash val="solid"/>
                <a:round/>
              </a:ln>
              <a:effectLst/>
            </c:spPr>
          </c:marker>
          <c:cat>
            <c:multiLvlStrRef>
              <c:f>Sheet1!$A$2:$A$8</c:f>
              <c:multiLvlStrCache>
                <c:ptCount val="7"/>
                <c:lvl>
                  <c:pt idx="0">
                    <c:v>0</c:v>
                  </c:pt>
                  <c:pt idx="1">
                    <c:v>10</c:v>
                  </c:pt>
                  <c:pt idx="2">
                    <c:v>25</c:v>
                  </c:pt>
                  <c:pt idx="3">
                    <c:v>50</c:v>
                  </c:pt>
                  <c:pt idx="4">
                    <c:v>75</c:v>
                  </c:pt>
                  <c:pt idx="5">
                    <c:v>90</c:v>
                  </c:pt>
                  <c:pt idx="6">
                    <c:v>100</c:v>
                  </c:pt>
                </c:lvl>
              </c:multiLvlStrCache>
            </c:multiLvlStrRef>
          </c:cat>
          <c:val>
            <c:numRef>
              <c:f>Sheet1!$B$2:$B$8</c:f>
              <c:numCache>
                <c:formatCode>General</c:formatCode>
                <c:ptCount val="7"/>
                <c:pt idx="0">
                  <c:v>100</c:v>
                </c:pt>
                <c:pt idx="1">
                  <c:v>90</c:v>
                </c:pt>
                <c:pt idx="2">
                  <c:v>75</c:v>
                </c:pt>
                <c:pt idx="3">
                  <c:v>50.1</c:v>
                </c:pt>
                <c:pt idx="4">
                  <c:v>25</c:v>
                </c:pt>
                <c:pt idx="5">
                  <c:v>9.9</c:v>
                </c:pt>
                <c:pt idx="6">
                  <c:v>0</c:v>
                </c:pt>
              </c:numCache>
            </c:numRef>
          </c:val>
          <c:smooth val="0"/>
        </c:ser>
        <c:dLbls>
          <c:numFmt formatCode="0" sourceLinked="0"/>
          <c:txPr>
            <a:bodyPr/>
            <a:lstStyle/>
            <a:p>
              <a:pPr>
                <a:defRPr b="0" i="0" strike="noStrike" sz="1200" u="none">
                  <a:solidFill>
                    <a:srgbClr val="1F2933"/>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9"/>
                    </a:solidFill>
                    <a:latin typeface="Arial"/>
                  </a:defRPr>
                </a:pPr>
                <a:r>
                  <a:rPr sz="1100" b="0" i="0" u="none" strike="noStrike">
                    <a:solidFill>
                      <a:srgbClr val="5B6B79"/>
                    </a:solidFill>
                    <a:latin typeface="Arial"/>
                  </a:rPr>
                  <a:t>patient-dependent share of devices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43"/>
                </a:solidFill>
                <a:latin typeface="+mn-lt"/>
              </a:defRPr>
            </a:pPr>
            <a:r>
              <a:rPr sz="1400" b="0" i="0" u="none" strike="noStrike">
                <a:solidFill>
                  <a:srgbClr val="0F2A43"/>
                </a:solidFill>
                <a:latin typeface="+mn-lt"/>
              </a:rPr>
              <a:t>Runs out of 30 with scripted misbehaving agents</a:t>
            </a:r>
          </a:p>
        </c:rich>
      </c:tx>
      <c:layout/>
      <c:overlay val="0"/>
    </c:title>
    <c:autoTitleDeleted val="0"/>
    <c:plotArea>
      <c:layout/>
      <c:barChart>
        <c:barDir val="col"/>
        <c:grouping val="clustered"/>
        <c:varyColors val="0"/>
        <c:ser>
          <c:idx val="0"/>
          <c:order val="0"/>
          <c:tx>
            <c:strRef>
              <c:f>Sheet1!$B$1</c:f>
              <c:strCache>
                <c:ptCount val="1"/>
                <c:pt idx="0">
                  <c:v>Guards off</c:v>
                </c:pt>
              </c:strCache>
            </c:strRef>
          </c:tx>
          <c:spPr>
            <a:solidFill>
              <a:srgbClr val="D1495B"/>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Unsafe autonomous action</c:v>
                  </c:pt>
                  <c:pt idx="1">
                    <c:v>Incident falsely closed</c:v>
                  </c:pt>
                  <c:pt idx="2">
                    <c:v>Wrong-incident answer accepted</c:v>
                  </c:pt>
                </c:lvl>
              </c:multiLvlStrCache>
            </c:multiLvlStrRef>
          </c:cat>
          <c:val>
            <c:numRef>
              <c:f>Sheet1!$B$2:$B$4</c:f>
              <c:numCache>
                <c:formatCode>General</c:formatCode>
                <c:ptCount val="3"/>
                <c:pt idx="0">
                  <c:v>2</c:v>
                </c:pt>
                <c:pt idx="1">
                  <c:v>1</c:v>
                </c:pt>
                <c:pt idx="2">
                  <c:v>3</c:v>
                </c:pt>
              </c:numCache>
            </c:numRef>
          </c:val>
        </c:ser>
        <c:ser>
          <c:idx val="1"/>
          <c:order val="1"/>
          <c:tx>
            <c:strRef>
              <c:f>Sheet1!$C$1</c:f>
              <c:strCache>
                <c:ptCount val="1"/>
                <c:pt idx="0">
                  <c:v>Guards on</c:v>
                </c:pt>
              </c:strCache>
            </c:strRef>
          </c:tx>
          <c:spPr>
            <a:solidFill>
              <a:srgbClr val="1B7F8C"/>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Unsafe autonomous action</c:v>
                  </c:pt>
                  <c:pt idx="1">
                    <c:v>Incident falsely closed</c:v>
                  </c:pt>
                  <c:pt idx="2">
                    <c:v>Wrong-incident answer accepted</c:v>
                  </c:pt>
                </c:lvl>
              </c:multiLvlStrCache>
            </c:multiLvlStrRef>
          </c:cat>
          <c:val>
            <c:numRef>
              <c:f>Sheet1!$C$2:$C$4</c:f>
              <c:numCache>
                <c:formatCode>General</c:formatCode>
                <c:ptCount val="3"/>
                <c:pt idx="0">
                  <c:v>0</c:v>
                </c:pt>
                <c:pt idx="1">
                  <c:v>0</c:v>
                </c:pt>
                <c:pt idx="2">
                  <c:v>0</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43"/>
                </a:solidFill>
                <a:latin typeface="+mn-lt"/>
              </a:defRPr>
            </a:pPr>
            <a:r>
              <a:rPr sz="1400" b="0" i="0" u="none" strike="noStrike">
                <a:solidFill>
                  <a:srgbClr val="0F2A43"/>
                </a:solidFill>
                <a:latin typeface="+mn-lt"/>
              </a:rPr>
              <a:t>Committed transactions per second vs concurrent clients</a:t>
            </a:r>
          </a:p>
        </c:rich>
      </c:tx>
      <c:layout/>
      <c:overlay val="0"/>
    </c:title>
    <c:autoTitleDeleted val="0"/>
    <c:plotArea>
      <c:layout/>
      <c:lineChart>
        <c:varyColors val="0"/>
        <c:ser>
          <c:idx val="0"/>
          <c:order val="0"/>
          <c:tx>
            <c:strRef>
              <c:f>Sheet1!$B$1</c:f>
              <c:strCache>
                <c:ptCount val="1"/>
                <c:pt idx="0">
                  <c:v>Measured</c:v>
                </c:pt>
              </c:strCache>
            </c:strRef>
          </c:tx>
          <c:spPr>
            <a:solidFill>
              <a:srgbClr val="1B7F8C"/>
            </a:solidFill>
            <a:ln w="38100" cap="flat">
              <a:solidFill>
                <a:srgbClr val="1B7F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B7F8C"/>
              </a:solidFill>
              <a:ln w="9525" cap="flat">
                <a:solidFill>
                  <a:srgbClr val="1B7F8C"/>
                </a:solidFill>
                <a:prstDash val="solid"/>
                <a:round/>
              </a:ln>
              <a:effectLst/>
            </c:spPr>
          </c:marker>
          <c:cat>
            <c:multiLvlStrRef>
              <c:f>Sheet1!$A$2:$A$5</c:f>
              <c:multiLvlStrCache>
                <c:ptCount val="4"/>
                <c:lvl>
                  <c:pt idx="0">
                    <c:v>1</c:v>
                  </c:pt>
                  <c:pt idx="1">
                    <c:v>2</c:v>
                  </c:pt>
                  <c:pt idx="2">
                    <c:v>4</c:v>
                  </c:pt>
                  <c:pt idx="3">
                    <c:v>8</c:v>
                  </c:pt>
                </c:lvl>
              </c:multiLvlStrCache>
            </c:multiLvlStrRef>
          </c:cat>
          <c:val>
            <c:numRef>
              <c:f>Sheet1!$B$2:$B$5</c:f>
              <c:numCache>
                <c:formatCode>General</c:formatCode>
                <c:ptCount val="4"/>
                <c:pt idx="0">
                  <c:v>0.9</c:v>
                </c:pt>
                <c:pt idx="1">
                  <c:v>1.78</c:v>
                </c:pt>
                <c:pt idx="2">
                  <c:v>3.36</c:v>
                </c:pt>
                <c:pt idx="3">
                  <c:v>5.99</c:v>
                </c:pt>
              </c:numCache>
            </c:numRef>
          </c:val>
          <c:smooth val="0"/>
        </c:ser>
        <c:ser>
          <c:idx val="1"/>
          <c:order val="1"/>
          <c:tx>
            <c:strRef>
              <c:f>Sheet1!$C$1</c:f>
              <c:strCache>
                <c:ptCount val="1"/>
                <c:pt idx="0">
                  <c:v>Ideal linear scaling</c:v>
                </c:pt>
              </c:strCache>
            </c:strRef>
          </c:tx>
          <c:spPr>
            <a:solidFill>
              <a:srgbClr val="C9D6DF"/>
            </a:solidFill>
            <a:ln w="38100" cap="flat">
              <a:solidFill>
                <a:srgbClr val="C9D6D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9D6DF"/>
              </a:solidFill>
              <a:ln w="9525" cap="flat">
                <a:solidFill>
                  <a:srgbClr val="C9D6DF"/>
                </a:solidFill>
                <a:prstDash val="solid"/>
                <a:round/>
              </a:ln>
              <a:effectLst/>
            </c:spPr>
          </c:marker>
          <c:cat>
            <c:multiLvlStrRef>
              <c:f>Sheet1!$A$2:$A$5</c:f>
              <c:multiLvlStrCache>
                <c:ptCount val="4"/>
                <c:lvl>
                  <c:pt idx="0">
                    <c:v>1</c:v>
                  </c:pt>
                  <c:pt idx="1">
                    <c:v>2</c:v>
                  </c:pt>
                  <c:pt idx="2">
                    <c:v>4</c:v>
                  </c:pt>
                  <c:pt idx="3">
                    <c:v>8</c:v>
                  </c:pt>
                </c:lvl>
              </c:multiLvlStrCache>
            </c:multiLvlStrRef>
          </c:cat>
          <c:val>
            <c:numRef>
              <c:f>Sheet1!$C$2:$C$5</c:f>
              <c:numCache>
                <c:formatCode>General</c:formatCode>
                <c:ptCount val="4"/>
                <c:pt idx="0">
                  <c:v>0.9</c:v>
                </c:pt>
                <c:pt idx="1">
                  <c:v>1.8</c:v>
                </c:pt>
                <c:pt idx="2">
                  <c:v>3.6</c:v>
                </c:pt>
                <c:pt idx="3">
                  <c:v>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9"/>
                    </a:solidFill>
                    <a:latin typeface="Arial"/>
                  </a:defRPr>
                </a:pPr>
                <a:r>
                  <a:rPr sz="1100" b="0" i="0" u="none" strike="noStrike">
                    <a:solidFill>
                      <a:srgbClr val="5B6B79"/>
                    </a:solidFill>
                    <a:latin typeface="Arial"/>
                  </a:rPr>
                  <a:t>concurrent clients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in one sentence: when an attack hits a medical device, the most secure response (isolating it) can be the most dangerous one for the patient. This work is about responding safely, not only detecting.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one breath: given traffic and a registry of how critical each device is, pick an automated response whose risk to a patient-dependent device is controlled by construction, whatever an AI component says, and keep a tamper-evident record. The three cards are the three gaps found in the literature review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works from 2021 to 2026 in four groups. The drawbacks are judged against our objective, safe and auditable automated response, and are not criticisms of what those authors set out to do. Detection papers end at classification. Blockchain papers protect data or evidence but are not written by a response pipeline. The two language-model response papers are not medical and have no hard guard on model output. The power-system papers show the same physical-harm concern outside medicine. Some table cells were written from titles and abstracts and are marked for re-reading in the paper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in one table. Each row is a cited system. Detectors have real IoMT data but nothing after classification. The Fabric works have a blockchain but no response. The two language-model works automate response but are not medical and have no guard on model output. No cited system combines all seven columns. The table is about coverage, not performance, so a more specialised work may do its one column better than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propose, code decides. Only deterministic code decides whether an action may run without a human. The registry, not the model, is the ground truth for device criticality. The ledger is written through an outbox so a slow ledger never delays containment.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Plus-minus is the standard deviation over five training seeds. Accuracy is high partly because floods dominate the test split, so macro-F1 is the more informative figure; the weak classes are ARP spoofing and vulnerability scanning. The bootstrap interval for accuracy is 0.9951 to 0.9953 but treats flows as independent, so it understates uncertainty across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claim a win over L2D2: the protocols differ, and the numbers we could extract from the other papers are accuracies, so macro-F1 cannot be compared. The contribution is what is built after the detector. The largest errors are pairs that differ mainly in the number of attacking sources, which a per-flow feature vector cannot see, and they cost nothing for the response. The costly errors are the 1,631 benign flows flagged as ARP spoofing and the 440 attack flows predicted as benign. The 4.9 to 5.3 percent interval is the benign false-positive rate of the main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zero is a counted result, not a failed experiment: the first Policy Engine rule sends every severe action on a patient-dependent device to a human, and we verified that over all 3,168 input combinations. The rule-of-three upper bound is about 2.3e-6. The right-hand chart is the honest cost: autonomy falls linearly with the share of patient-dependent devices, reaching zero when all devices are patient-dependent. Clinical context is sampled, not observed, and the agents in this experiment are deterministic stand-ins.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thirty scripted runs, ten misbehaving-agent behaviours on three simulated devices, repeated with the three guards switched off. Off: two unsafe autonomous actions, one false closure, three wrong-incident answers accepted. On: zero of each. These are scripted worst cases, not how often a real model misbehaves; no live-model figure is reported because the provider returned overload and quota errors. Right: real two-organisation Hyperledger Fabric, one orderer on a 2-CPU host. All 142 blocks were re-verified independently; an edit in block 70 was detected there, and when the attacker also recomputed that block's hash it was still detected at block 71 through the previous-hash link. Throughput scales near linearly to four clients and then sub-linearly, with no failed transaction among 24 at each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claim the evidence supports: the risk to a patient-dependent device is controlled by construction in the decision layer, and that holds even when an agent is wrong. The cost is human approvals. The limits are real: the clinical context is sampled and the agents in the large studies are deterministic stand-ins, and no live-model number is reported. Next steps are real language models with clinician studies and a multi-orderer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2">
    <p:bg>
      <p:bgPr>
        <a:solidFill>
          <a:srgbClr val="0F2A4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737360"/>
            <a:ext cx="1051560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822960" y="3931920"/>
            <a:ext cx="10515600" cy="1463040"/>
          </a:xfrm>
          <a:prstGeom prst="rect">
            <a:avLst/>
          </a:prstGeom>
          <a:noFill/>
          <a:ln/>
        </p:spPr>
        <p:txBody>
          <a:bodyPr wrap="square" rtlCol="0"/>
          <a:lstStyle>
            <a:lvl1pPr algn="l" indent="0" marL="0">
              <a:buNone/>
              <a:defRPr lang="en-US" sz="1800" dirty="0">
                <a:solidFill>
                  <a:srgbClr val="C9D6DF"/>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rgbClr val="0F2A43"/>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737360"/>
            <a:ext cx="1051560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Patient-Aware Agentic Cyber-Resilience for the Internet of Medical Things</a:t>
            </a:r>
            <a:endParaRPr lang="en-US" sz="4200" dirty="0"/>
          </a:p>
        </p:txBody>
      </p:sp>
      <p:sp>
        <p:nvSpPr>
          <p:cNvPr id="3" name="Text 0"/>
          <p:cNvSpPr/>
          <p:nvPr>
            <p:ph idx="101" type="body" hasCustomPrompt="1"/>
          </p:nvPr>
        </p:nvSpPr>
        <p:spPr>
          <a:xfrm>
            <a:off x="822960" y="3931920"/>
            <a:ext cx="10515600" cy="1463040"/>
          </a:xfrm>
          <a:prstGeom prst="rect">
            <a:avLst/>
          </a:prstGeom>
          <a:noFill/>
          <a:ln/>
        </p:spPr>
        <p:txBody>
          <a:bodyPr wrap="square" lIns="0" tIns="0" rIns="0" bIns="0" rtlCol="0" anchor="t"/>
          <a:lstStyle/>
          <a:p>
            <a:pPr algn="l" indent="0" marL="0">
              <a:spcAft>
                <a:spcPts val="600"/>
              </a:spcAft>
              <a:buNone/>
            </a:pPr>
            <a:r>
              <a:rPr lang="en-US" sz="1800" dirty="0">
                <a:solidFill>
                  <a:srgbClr val="C9D6DF"/>
                </a:solidFill>
                <a:latin typeface="Calibri" pitchFamily="34" charset="0"/>
                <a:ea typeface="Calibri" pitchFamily="34" charset="-122"/>
                <a:cs typeface="Calibri" pitchFamily="34" charset="-120"/>
              </a:rPr>
              <a:t>Guarded language-model incident response with blockchain provenance</a:t>
            </a:r>
            <a:endParaRPr lang="en-US" sz="1800" dirty="0"/>
          </a:p>
          <a:p>
            <a:pPr algn="l" indent="0" marL="0">
              <a:spcAft>
                <a:spcPts val="600"/>
              </a:spcAft>
              <a:buNone/>
            </a:pPr>
            <a:r>
              <a:rPr lang="en-US" sz="1800" b="1" dirty="0">
                <a:solidFill>
                  <a:srgbClr val="FFFFFF"/>
                </a:solidFill>
                <a:latin typeface="Calibri" pitchFamily="34" charset="0"/>
                <a:ea typeface="Calibri" pitchFamily="34" charset="-122"/>
                <a:cs typeface="Calibri" pitchFamily="34" charset="-120"/>
              </a:rPr>
              <a:t>Rohith V, Prathiv R M, Manimaran S</a:t>
            </a:r>
            <a:endParaRPr lang="en-US" sz="1800" dirty="0"/>
          </a:p>
          <a:p>
            <a:pPr algn="l" indent="0" marL="0">
              <a:spcAft>
                <a:spcPts val="600"/>
              </a:spcAft>
              <a:buNone/>
            </a:pPr>
            <a:r>
              <a:rPr lang="en-US" sz="1800" dirty="0">
                <a:solidFill>
                  <a:srgbClr val="C9D6DF"/>
                </a:solidFill>
                <a:latin typeface="Calibri" pitchFamily="34" charset="0"/>
                <a:ea typeface="Calibri" pitchFamily="34" charset="-122"/>
                <a:cs typeface="Calibri" pitchFamily="34" charset="-120"/>
              </a:rPr>
              <a:t>Amrita School of Artificial Intelligence, Coimbatore, Amrita Vishwa Vidyapeetham, India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Problem statement: secure is not always safe</a:t>
            </a:r>
            <a:endParaRPr lang="en-US" sz="34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800" dirty="0">
                <a:solidFill>
                  <a:srgbClr val="5B6B79"/>
                </a:solidFill>
                <a:latin typeface="Calibri" pitchFamily="34" charset="0"/>
                <a:ea typeface="Calibri" pitchFamily="34" charset="-122"/>
                <a:cs typeface="Calibri" pitchFamily="34" charset="-120"/>
              </a:rPr>
              <a:t>Isolating an attacked ventilator stops the flood and also stops the patient's breathing support.</a:t>
            </a:r>
            <a:endParaRPr lang="en-US" sz="1800" dirty="0"/>
          </a:p>
        </p:txBody>
      </p:sp>
      <p:sp>
        <p:nvSpPr>
          <p:cNvPr id="4" name="Card 1"/>
          <p:cNvSpPr/>
          <p:nvPr/>
        </p:nvSpPr>
        <p:spPr>
          <a:xfrm>
            <a:off x="548640" y="1783080"/>
            <a:ext cx="3520440" cy="2377440"/>
          </a:xfrm>
          <a:prstGeom prst="roundRect">
            <a:avLst>
              <a:gd name="adj" fmla="val 4615"/>
            </a:avLst>
          </a:prstGeom>
          <a:solidFill>
            <a:schemeClr val="bg2"/>
          </a:solidFill>
          <a:ln w="12700">
            <a:solidFill>
              <a:schemeClr val="bg2"/>
            </a:solidFill>
            <a:prstDash val="solid"/>
          </a:ln>
        </p:spPr>
      </p:sp>
      <p:sp>
        <p:nvSpPr>
          <p:cNvPr id="5" name="Icon circle 1"/>
          <p:cNvSpPr/>
          <p:nvPr/>
        </p:nvSpPr>
        <p:spPr>
          <a:xfrm>
            <a:off x="822960" y="1920240"/>
            <a:ext cx="640080" cy="640080"/>
          </a:xfrm>
          <a:prstGeom prst="ellipse">
            <a:avLst/>
          </a:prstGeom>
          <a:solidFill>
            <a:schemeClr val="accent1"/>
          </a:solidFill>
          <a:ln w="12700">
            <a:solidFill>
              <a:schemeClr val="accent1"/>
            </a:solidFill>
            <a:prstDash val="solid"/>
          </a:ln>
        </p:spPr>
      </p:sp>
      <p:pic>
        <p:nvPicPr>
          <p:cNvPr id="6" name="Image 0" descr="Detectors stop at classification">    </p:cNvPr>
          <p:cNvPicPr>
            <a:picLocks noChangeAspect="1"/>
          </p:cNvPicPr>
          <p:nvPr/>
        </p:nvPicPr>
        <p:blipFill>
          <a:blip r:embed="rId1"/>
          <a:stretch>
            <a:fillRect/>
          </a:stretch>
        </p:blipFill>
        <p:spPr>
          <a:xfrm>
            <a:off x="978408" y="2075688"/>
            <a:ext cx="329184" cy="329184"/>
          </a:xfrm>
          <a:prstGeom prst="rect">
            <a:avLst/>
          </a:prstGeom>
        </p:spPr>
      </p:pic>
      <p:sp>
        <p:nvSpPr>
          <p:cNvPr id="7" name="Text 4"/>
          <p:cNvSpPr txBox="1"/>
          <p:nvPr/>
        </p:nvSpPr>
        <p:spPr>
          <a:xfrm>
            <a:off x="1600200" y="1920240"/>
            <a:ext cx="2240280" cy="6400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Detectors stop at classification</a:t>
            </a:r>
            <a:endParaRPr lang="en-US" sz="1700" dirty="0"/>
          </a:p>
        </p:txBody>
      </p:sp>
      <p:sp>
        <p:nvSpPr>
          <p:cNvPr id="8" name="Text 5"/>
          <p:cNvSpPr txBox="1"/>
          <p:nvPr/>
        </p:nvSpPr>
        <p:spPr>
          <a:xfrm>
            <a:off x="822960" y="2697480"/>
            <a:ext cx="2971800" cy="1691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IoMT detectors reach about 98 to 99% accuracy on CICIoMT2024, but none decides what to do to a device a patient depends on.</a:t>
            </a:r>
            <a:endParaRPr lang="en-US" sz="1500" dirty="0"/>
          </a:p>
        </p:txBody>
      </p:sp>
      <p:sp>
        <p:nvSpPr>
          <p:cNvPr id="9" name="Card 2"/>
          <p:cNvSpPr/>
          <p:nvPr/>
        </p:nvSpPr>
        <p:spPr>
          <a:xfrm>
            <a:off x="4343400" y="1783080"/>
            <a:ext cx="3520440" cy="2377440"/>
          </a:xfrm>
          <a:prstGeom prst="roundRect">
            <a:avLst>
              <a:gd name="adj" fmla="val 4615"/>
            </a:avLst>
          </a:prstGeom>
          <a:solidFill>
            <a:schemeClr val="bg2"/>
          </a:solidFill>
          <a:ln w="12700">
            <a:solidFill>
              <a:schemeClr val="bg2"/>
            </a:solidFill>
            <a:prstDash val="solid"/>
          </a:ln>
        </p:spPr>
      </p:sp>
      <p:sp>
        <p:nvSpPr>
          <p:cNvPr id="10" name="Icon circle 2"/>
          <p:cNvSpPr/>
          <p:nvPr/>
        </p:nvSpPr>
        <p:spPr>
          <a:xfrm>
            <a:off x="4617720" y="1920240"/>
            <a:ext cx="640080" cy="640080"/>
          </a:xfrm>
          <a:prstGeom prst="ellipse">
            <a:avLst/>
          </a:prstGeom>
          <a:solidFill>
            <a:schemeClr val="accent1"/>
          </a:solidFill>
          <a:ln w="12700">
            <a:solidFill>
              <a:schemeClr val="accent1"/>
            </a:solidFill>
            <a:prstDash val="solid"/>
          </a:ln>
        </p:spPr>
      </p:sp>
      <p:pic>
        <p:nvPicPr>
          <p:cNvPr id="11" name="Image 1" descr="Language-model agents are not guarded">    </p:cNvPr>
          <p:cNvPicPr>
            <a:picLocks noChangeAspect="1"/>
          </p:cNvPicPr>
          <p:nvPr/>
        </p:nvPicPr>
        <p:blipFill>
          <a:blip r:embed="rId2"/>
          <a:stretch>
            <a:fillRect/>
          </a:stretch>
        </p:blipFill>
        <p:spPr>
          <a:xfrm>
            <a:off x="4773168" y="2075688"/>
            <a:ext cx="329184" cy="329184"/>
          </a:xfrm>
          <a:prstGeom prst="rect">
            <a:avLst/>
          </a:prstGeom>
        </p:spPr>
      </p:pic>
      <p:sp>
        <p:nvSpPr>
          <p:cNvPr id="12" name="Text 8"/>
          <p:cNvSpPr txBox="1"/>
          <p:nvPr/>
        </p:nvSpPr>
        <p:spPr>
          <a:xfrm>
            <a:off x="5394960" y="1920240"/>
            <a:ext cx="2240280" cy="6400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Language-model agents are not guarded</a:t>
            </a:r>
            <a:endParaRPr lang="en-US" sz="1700" dirty="0"/>
          </a:p>
        </p:txBody>
      </p:sp>
      <p:sp>
        <p:nvSpPr>
          <p:cNvPr id="13" name="Text 9"/>
          <p:cNvSpPr txBox="1"/>
          <p:nvPr/>
        </p:nvSpPr>
        <p:spPr>
          <a:xfrm>
            <a:off x="4617720" y="2697480"/>
            <a:ext cx="2971800" cy="1691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model can be wrong, can be misled by text inside the traffic it reads, and can claim recovery while the attacker is active.</a:t>
            </a:r>
            <a:endParaRPr lang="en-US" sz="1500" dirty="0"/>
          </a:p>
        </p:txBody>
      </p:sp>
      <p:sp>
        <p:nvSpPr>
          <p:cNvPr id="14" name="Card 3"/>
          <p:cNvSpPr/>
          <p:nvPr/>
        </p:nvSpPr>
        <p:spPr>
          <a:xfrm>
            <a:off x="8138160" y="1783080"/>
            <a:ext cx="3520440" cy="2377440"/>
          </a:xfrm>
          <a:prstGeom prst="roundRect">
            <a:avLst>
              <a:gd name="adj" fmla="val 4615"/>
            </a:avLst>
          </a:prstGeom>
          <a:solidFill>
            <a:schemeClr val="bg2"/>
          </a:solidFill>
          <a:ln w="12700">
            <a:solidFill>
              <a:schemeClr val="bg2"/>
            </a:solidFill>
            <a:prstDash val="solid"/>
          </a:ln>
        </p:spPr>
      </p:sp>
      <p:sp>
        <p:nvSpPr>
          <p:cNvPr id="15" name="Icon circle 3"/>
          <p:cNvSpPr/>
          <p:nvPr/>
        </p:nvSpPr>
        <p:spPr>
          <a:xfrm>
            <a:off x="8412480" y="1920240"/>
            <a:ext cx="640080" cy="640080"/>
          </a:xfrm>
          <a:prstGeom prst="ellipse">
            <a:avLst/>
          </a:prstGeom>
          <a:solidFill>
            <a:schemeClr val="accent1"/>
          </a:solidFill>
          <a:ln w="12700">
            <a:solidFill>
              <a:schemeClr val="accent1"/>
            </a:solidFill>
            <a:prstDash val="solid"/>
          </a:ln>
        </p:spPr>
      </p:sp>
      <p:pic>
        <p:nvPicPr>
          <p:cNvPr id="16" name="Image 2" descr="Provenance is rarely measured">    </p:cNvPr>
          <p:cNvPicPr>
            <a:picLocks noChangeAspect="1"/>
          </p:cNvPicPr>
          <p:nvPr/>
        </p:nvPicPr>
        <p:blipFill>
          <a:blip r:embed="rId3"/>
          <a:stretch>
            <a:fillRect/>
          </a:stretch>
        </p:blipFill>
        <p:spPr>
          <a:xfrm>
            <a:off x="8567928" y="2075688"/>
            <a:ext cx="329184" cy="329184"/>
          </a:xfrm>
          <a:prstGeom prst="rect">
            <a:avLst/>
          </a:prstGeom>
        </p:spPr>
      </p:pic>
      <p:sp>
        <p:nvSpPr>
          <p:cNvPr id="17" name="Text 12"/>
          <p:cNvSpPr txBox="1"/>
          <p:nvPr/>
        </p:nvSpPr>
        <p:spPr>
          <a:xfrm>
            <a:off x="9189720" y="1920240"/>
            <a:ext cx="2240280" cy="6400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Provenance is rarely measured</a:t>
            </a:r>
            <a:endParaRPr lang="en-US" sz="1700" dirty="0"/>
          </a:p>
        </p:txBody>
      </p:sp>
      <p:sp>
        <p:nvSpPr>
          <p:cNvPr id="18" name="Text 13"/>
          <p:cNvSpPr txBox="1"/>
          <p:nvPr/>
        </p:nvSpPr>
        <p:spPr>
          <a:xfrm>
            <a:off x="8412480" y="2697480"/>
            <a:ext cx="2971800" cy="1691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Blockchain for health data is common, but a ledger written by a detect-and-respond pipeline and tested for tampering is not.</a:t>
            </a:r>
            <a:endParaRPr lang="en-US" sz="1500" dirty="0"/>
          </a:p>
        </p:txBody>
      </p:sp>
      <p:sp>
        <p:nvSpPr>
          <p:cNvPr id="19" name="Problem statement box"/>
          <p:cNvSpPr/>
          <p:nvPr/>
        </p:nvSpPr>
        <p:spPr>
          <a:xfrm>
            <a:off x="548640" y="4434840"/>
            <a:ext cx="11064240" cy="1600200"/>
          </a:xfrm>
          <a:prstGeom prst="roundRect">
            <a:avLst>
              <a:gd name="adj" fmla="val 5714"/>
            </a:avLst>
          </a:prstGeom>
          <a:solidFill>
            <a:schemeClr val="tx2"/>
          </a:solidFill>
          <a:ln w="12700">
            <a:solidFill>
              <a:schemeClr val="tx2"/>
            </a:solidFill>
            <a:prstDash val="solid"/>
          </a:ln>
        </p:spPr>
      </p:sp>
      <p:sp>
        <p:nvSpPr>
          <p:cNvPr id="20" name="Text 15"/>
          <p:cNvSpPr txBox="1"/>
          <p:nvPr/>
        </p:nvSpPr>
        <p:spPr>
          <a:xfrm>
            <a:off x="822960" y="4617720"/>
            <a:ext cx="5486400" cy="274320"/>
          </a:xfrm>
          <a:prstGeom prst="rect">
            <a:avLst/>
          </a:prstGeom>
          <a:noFill/>
          <a:ln/>
        </p:spPr>
        <p:txBody>
          <a:bodyPr wrap="square" lIns="0" tIns="0" rIns="0" bIns="0" rtlCol="0" anchor="ctr"/>
          <a:lstStyle/>
          <a:p>
            <a:pPr indent="0" marL="0">
              <a:buNone/>
            </a:pPr>
            <a:r>
              <a:rPr lang="en-US" sz="1200" b="1" spc="200" kern="0" dirty="0">
                <a:solidFill>
                  <a:schemeClr val="accent4"/>
                </a:solidFill>
                <a:latin typeface="Calibri" pitchFamily="34" charset="0"/>
                <a:ea typeface="Calibri" pitchFamily="34" charset="-122"/>
                <a:cs typeface="Calibri" pitchFamily="34" charset="-120"/>
              </a:rPr>
              <a:t>PROBLEM STATEMENT</a:t>
            </a:r>
            <a:endParaRPr lang="en-US" sz="1200" dirty="0"/>
          </a:p>
        </p:txBody>
      </p:sp>
      <p:sp>
        <p:nvSpPr>
          <p:cNvPr id="21" name="Text 16"/>
          <p:cNvSpPr txBox="1"/>
          <p:nvPr/>
        </p:nvSpPr>
        <p:spPr>
          <a:xfrm>
            <a:off x="822960" y="4983480"/>
            <a:ext cx="10515600" cy="960120"/>
          </a:xfrm>
          <a:prstGeom prst="rect">
            <a:avLst/>
          </a:prstGeom>
          <a:noFill/>
          <a:ln/>
        </p:spPr>
        <p:txBody>
          <a:bodyPr wrap="square" lIns="0" tIns="0" rIns="0" bIns="0" rtlCol="0" anchor="t"/>
          <a:lstStyle/>
          <a:p>
            <a:pPr indent="0" marL="0">
              <a:buNone/>
            </a:pPr>
            <a:r>
              <a:rPr lang="en-US" sz="2000" dirty="0">
                <a:solidFill>
                  <a:schemeClr val="bg1"/>
                </a:solidFill>
                <a:latin typeface="Calibri" pitchFamily="34" charset="0"/>
                <a:ea typeface="Calibri" pitchFamily="34" charset="-122"/>
                <a:cs typeface="Calibri" pitchFamily="34" charset="-120"/>
              </a:rPr>
              <a:t>Given IoMT traffic and a registry of device criticality, choose an automated response whose risk to a patient-dependent device is controlled by construction, whatever an AI component says, and keep a tamper-evident record of every step.</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Literature review: sixteen works, four themes</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3108960"/>
                <a:gridCol w="3108960"/>
                <a:gridCol w="283464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Theme</a:t>
                      </a:r>
                      <a:endParaRPr lang="en-US" sz="1400" dirty="0">
                        <a:latin typeface="Calibri" charset="0"/>
                        <a:ea typeface="Calibri" charset="0"/>
                        <a:cs typeface="Calibri" charset="0"/>
                      </a:endParaRPr>
                    </a:p>
                  </a:txBody>
                  <a:tcPr marL="91440" marR="91440"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Representative works</a:t>
                      </a:r>
                      <a:endParaRPr lang="en-US" sz="1400" dirty="0">
                        <a:latin typeface="Calibri" charset="0"/>
                        <a:ea typeface="Calibri" charset="0"/>
                        <a:cs typeface="Calibri" charset="0"/>
                      </a:endParaRPr>
                    </a:p>
                  </a:txBody>
                  <a:tcPr marL="91440" marR="91440"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they offer</a:t>
                      </a:r>
                      <a:endParaRPr lang="en-US" sz="1400" dirty="0">
                        <a:latin typeface="Calibri" charset="0"/>
                        <a:ea typeface="Calibri" charset="0"/>
                        <a:cs typeface="Calibri" charset="0"/>
                      </a:endParaRPr>
                    </a:p>
                  </a:txBody>
                  <a:tcPr marL="91440" marR="91440"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Gap against our objective</a:t>
                      </a:r>
                      <a:endParaRPr lang="en-US" sz="1400" dirty="0">
                        <a:latin typeface="Calibri" charset="0"/>
                        <a:ea typeface="Calibri" charset="0"/>
                        <a:cs typeface="Calibri" charset="0"/>
                      </a:endParaRPr>
                    </a:p>
                  </a:txBody>
                  <a:tcPr marL="91440" marR="91440" marT="54864" marB="54864"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r>
              <a:tr h="1097280">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IoMT intrusion detection</a:t>
                      </a:r>
                      <a:endParaRPr lang="en-US" sz="13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Akar 2025 (L2D2); Shaikh 2025 (HCLR-IDS); Hafid 2025; Alsolami 2024; Abdelhaq 2026; review by Naghib 2025</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L2D2: 98% over 19 classes. HCLR-IDS: 0.9958 binary but 0.7773 over 18 classes. Fusion cut false negatives from 361 to 213.</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indent="0" marL="0">
                        <a:buNone/>
                      </a:pPr>
                      <a:r>
                        <a:rPr lang="en-US" sz="1200" dirty="0">
                          <a:solidFill>
                            <a:srgbClr val="9A2F3F"/>
                          </a:solidFill>
                          <a:latin typeface="Calibri" pitchFamily="34" charset="0"/>
                          <a:ea typeface="Calibri" pitchFamily="34" charset="-122"/>
                          <a:cs typeface="Calibri" pitchFamily="34" charset="-120"/>
                        </a:rPr>
                        <a:t>Detection only: no response, no clinical context, no provenance.</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BEFF1"/>
                    </a:solidFill>
                  </a:tcPr>
                </a:tc>
              </a:tr>
              <a:tr h="1097280">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Blockchain for health data and evidence</a:t>
                      </a:r>
                      <a:endParaRPr lang="en-US" sz="13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Hasnain 2023; Pelekoudas-Oikonomou 2023; Xiao 2024; Vidhya 2023; Mukhopadhyay 2021</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Fabric for health records, an IoMT prototype, tamper-proof forensic evidence, smart-contract data sharing.</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indent="0" marL="0">
                        <a:buNone/>
                      </a:pPr>
                      <a:r>
                        <a:rPr lang="en-US" sz="1200" dirty="0">
                          <a:solidFill>
                            <a:srgbClr val="9A2F3F"/>
                          </a:solidFill>
                          <a:latin typeface="Calibri" pitchFamily="34" charset="0"/>
                          <a:ea typeface="Calibri" pitchFamily="34" charset="-122"/>
                          <a:cs typeface="Calibri" pitchFamily="34" charset="-120"/>
                        </a:rPr>
                        <a:t>Protect data, access or evidence; none is written by a detect-and-respond pipeline and measured for tampering and latency.</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BEFF1"/>
                    </a:solidFill>
                  </a:tcPr>
                </a:tc>
              </a:tr>
              <a:tr h="914400">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Language-model agents for incident response</a:t>
                      </a:r>
                      <a:endParaRPr lang="en-US" sz="13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Lin 2025 (IRCopilot); Gao 2026</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Role-split sessions that reduce context loss; recovery up to 23% faster than frontier models.</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indent="0" marL="0">
                        <a:buNone/>
                      </a:pPr>
                      <a:r>
                        <a:rPr lang="en-US" sz="1200" dirty="0">
                          <a:solidFill>
                            <a:srgbClr val="9A2F3F"/>
                          </a:solidFill>
                          <a:latin typeface="Calibri" pitchFamily="34" charset="0"/>
                          <a:ea typeface="Calibri" pitchFamily="34" charset="-122"/>
                          <a:cs typeface="Calibri" pitchFamily="34" charset="-120"/>
                        </a:rPr>
                        <a:t>No deterministic guard on model output; not medical; patient harm is not modelled.</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BEFF1"/>
                    </a:solidFill>
                  </a:tcPr>
                </a:tc>
              </a:tr>
              <a:tr h="822960">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Machine learning for power systems</a:t>
                      </a:r>
                      <a:endParaRPr lang="en-US" sz="13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Pranav 2026; Vignes 2025</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ML attack classification and anomaly detection for a safety-critical physical process.</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indent="0" marL="0">
                        <a:buNone/>
                      </a:pPr>
                      <a:r>
                        <a:rPr lang="en-US" sz="1200" dirty="0">
                          <a:solidFill>
                            <a:srgbClr val="9A2F3F"/>
                          </a:solidFill>
                          <a:latin typeface="Calibri" pitchFamily="34" charset="0"/>
                          <a:ea typeface="Calibri" pitchFamily="34" charset="-122"/>
                          <a:cs typeface="Calibri" pitchFamily="34" charset="-120"/>
                        </a:rPr>
                        <a:t>Not medical; classification without a safe response layer.</a:t>
                      </a:r>
                      <a:endParaRPr lang="en-US" sz="1200" dirty="0">
                        <a:latin typeface="Calibri" charset="0"/>
                        <a:ea typeface="Calibri" charset="0"/>
                        <a:cs typeface="Calibri" charset="0"/>
                      </a:endParaRPr>
                    </a:p>
                  </a:txBody>
                  <a:tcPr marL="91440" marR="91440" marT="54864" marB="54864" anchor="t">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BEFF1"/>
                    </a:solidFill>
                  </a:tcPr>
                </a:tc>
              </a:tr>
            </a:tbl>
          </a:graphicData>
        </a:graphic>
      </p:graphicFrame>
      <p:sp>
        <p:nvSpPr>
          <p:cNvPr id="4" name="Text 1"/>
          <p:cNvSpPr txBox="1"/>
          <p:nvPr/>
        </p:nvSpPr>
        <p:spPr>
          <a:xfrm>
            <a:off x="548640" y="5989320"/>
            <a:ext cx="10607040" cy="45720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Benchmark used throughout: CICIoMT2024 (Dadkhah 2024), 40 IoMT devices, capture-level split. Drawbacks are stated against our objective of safe, auditable response, not against each work's own aim.</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Research gap: no work covers all seven capabilities</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1161288"/>
                <a:gridCol w="1161288"/>
                <a:gridCol w="1161288"/>
                <a:gridCol w="1161288"/>
                <a:gridCol w="1161288"/>
                <a:gridCol w="1161288"/>
                <a:gridCol w="1161288"/>
              </a:tblGrid>
              <a:tr h="502920">
                <a:tc>
                  <a:txBody>
                    <a:bodyPr/>
                    <a:lstStyle/>
                    <a:p>
                      <a:pPr indent="0" marL="0">
                        <a:buNone/>
                      </a:pPr>
                      <a:endParaRPr lang="en-US" sz="1200" dirty="0"/>
                    </a:p>
                  </a:txBody>
                  <a:tcPr marL="73152" marR="73152" marT="27432" marB="27432">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Real IoMT data</a:t>
                      </a:r>
                      <a:endParaRPr lang="en-US" sz="12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Automated response</a:t>
                      </a:r>
                      <a:endParaRPr lang="en-US" sz="12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Patient-aware gate</a:t>
                      </a:r>
                      <a:endParaRPr lang="en-US" sz="12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LLM agents</a:t>
                      </a:r>
                      <a:endParaRPr lang="en-US" sz="12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Output guard</a:t>
                      </a:r>
                      <a:endParaRPr lang="en-US" sz="12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Blockchain</a:t>
                      </a:r>
                      <a:endParaRPr lang="en-US" sz="12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Ledger tested</a:t>
                      </a:r>
                      <a:endParaRPr lang="en-US" sz="12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0F2A43"/>
                    </a:solidFill>
                  </a:tcPr>
                </a:tc>
              </a:tr>
              <a:tr h="393192">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L2D2 (Akar 2025)</a:t>
                      </a:r>
                      <a:endParaRPr lang="en-US" sz="13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HCLR-IDS (Shaikh 2025)</a:t>
                      </a:r>
                      <a:endParaRPr lang="en-US" sz="13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Hafid 2025</a:t>
                      </a:r>
                      <a:endParaRPr lang="en-US" sz="13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Pelekoudas-Oikonomou 2023</a:t>
                      </a:r>
                      <a:endParaRPr lang="en-US" sz="13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Xiao 2024</a:t>
                      </a:r>
                      <a:endParaRPr lang="en-US" sz="13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IRCopilot (Lin 2025)</a:t>
                      </a:r>
                      <a:endParaRPr lang="en-US" sz="13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0F2A43"/>
                          </a:solidFill>
                          <a:latin typeface="Calibri" pitchFamily="34" charset="0"/>
                          <a:ea typeface="Calibri" pitchFamily="34" charset="-122"/>
                          <a:cs typeface="Calibri" pitchFamily="34" charset="-120"/>
                        </a:rPr>
                        <a:t>Gao 2026</a:t>
                      </a:r>
                      <a:endParaRPr lang="en-US" sz="13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EEF4F7"/>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7F8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5B6B7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This work</a:t>
                      </a:r>
                      <a:endParaRPr lang="en-US" sz="13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7F8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7F8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7F8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7F8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7F8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7F8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7F8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6DF"/>
                      </a:solidFill>
                      <a:prstDash val="solid"/>
                      <a:round/>
                      <a:headEnd type="none" w="med" len="med"/>
                      <a:tailEnd type="none" w="med" len="med"/>
                    </a:lnL>
                    <a:lnR w="9525" cap="flat" cmpd="sng" algn="ctr">
                      <a:solidFill>
                        <a:srgbClr val="C9D6DF"/>
                      </a:solidFill>
                      <a:prstDash val="solid"/>
                      <a:round/>
                      <a:headEnd type="none" w="med" len="med"/>
                      <a:tailEnd type="none" w="med" len="med"/>
                    </a:lnR>
                    <a:lnT w="9525" cap="flat" cmpd="sng" algn="ctr">
                      <a:solidFill>
                        <a:srgbClr val="C9D6DF"/>
                      </a:solidFill>
                      <a:prstDash val="solid"/>
                      <a:round/>
                      <a:headEnd type="none" w="med" len="med"/>
                      <a:tailEnd type="none" w="med" len="med"/>
                    </a:lnT>
                    <a:lnB w="9525" cap="flat" cmpd="sng" algn="ctr">
                      <a:solidFill>
                        <a:srgbClr val="C9D6DF"/>
                      </a:solidFill>
                      <a:prstDash val="solid"/>
                      <a:round/>
                      <a:headEnd type="none" w="med" len="med"/>
                      <a:tailEnd type="none" w="med" len="med"/>
                    </a:lnB>
                    <a:solidFill>
                      <a:srgbClr val="1B7F8C"/>
                    </a:solidFill>
                  </a:tcPr>
                </a:tc>
              </a:tr>
            </a:tbl>
          </a:graphicData>
        </a:graphic>
      </p:graphicFrame>
      <p:sp>
        <p:nvSpPr>
          <p:cNvPr id="4" name="Text 1"/>
          <p:cNvSpPr txBox="1"/>
          <p:nvPr/>
        </p:nvSpPr>
        <p:spPr>
          <a:xfrm>
            <a:off x="548640" y="5166360"/>
            <a:ext cx="11064240" cy="822960"/>
          </a:xfrm>
          <a:prstGeom prst="rect">
            <a:avLst/>
          </a:prstGeom>
          <a:noFill/>
          <a:ln/>
        </p:spPr>
        <p:txBody>
          <a:bodyPr wrap="square" lIns="0" tIns="0" rIns="0" bIns="0" rtlCol="0" anchor="ctr"/>
          <a:lstStyle/>
          <a:p>
            <a:pPr indent="0" marL="0">
              <a:spcAft>
                <a:spcPts val="400"/>
              </a:spcAft>
              <a:buNone/>
            </a:pPr>
            <a:r>
              <a:rPr lang="en-US" sz="1300" b="1" dirty="0">
                <a:solidFill>
                  <a:srgbClr val="1F2933"/>
                </a:solidFill>
                <a:latin typeface="Calibri" pitchFamily="34" charset="0"/>
                <a:ea typeface="Calibri" pitchFamily="34" charset="-122"/>
                <a:cs typeface="Calibri" pitchFamily="34" charset="-120"/>
              </a:rPr>
              <a:t>● addressed    ○ partial, simulation only, or not verified    – outside that work's stated scope</a:t>
            </a:r>
            <a:endParaRPr lang="en-US" sz="1300" dirty="0"/>
          </a:p>
          <a:p>
            <a:pPr indent="0" marL="0">
              <a:spcAft>
                <a:spcPts val="400"/>
              </a:spcAft>
              <a:buNone/>
            </a:pPr>
            <a:r>
              <a:rPr lang="en-US" sz="1300" dirty="0">
                <a:solidFill>
                  <a:srgbClr val="5B6B79"/>
                </a:solidFill>
                <a:latin typeface="Calibri" pitchFamily="34" charset="0"/>
                <a:ea typeface="Calibri" pitchFamily="34" charset="-122"/>
                <a:cs typeface="Calibri" pitchFamily="34" charset="-120"/>
              </a:rPr>
              <a:t>Coverage is read from each work's title and abstract and is not a statement about performance: a specialised work may do its single column better than we do.</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Four phases: detect, plan, decide, verify</a:t>
            </a:r>
            <a:endParaRPr lang="en-US" sz="3400" dirty="0"/>
          </a:p>
        </p:txBody>
      </p:sp>
      <p:sp>
        <p:nvSpPr>
          <p:cNvPr id="3" name="Phase box 1"/>
          <p:cNvSpPr/>
          <p:nvPr/>
        </p:nvSpPr>
        <p:spPr>
          <a:xfrm>
            <a:off x="548640" y="1463040"/>
            <a:ext cx="2560320" cy="3566160"/>
          </a:xfrm>
          <a:prstGeom prst="roundRect">
            <a:avLst>
              <a:gd name="adj" fmla="val 3571"/>
            </a:avLst>
          </a:prstGeom>
          <a:solidFill>
            <a:schemeClr val="bg2"/>
          </a:solidFill>
          <a:ln w="12700">
            <a:solidFill>
              <a:schemeClr val="accent5"/>
            </a:solidFill>
            <a:prstDash val="solid"/>
          </a:ln>
        </p:spPr>
      </p:sp>
      <p:sp>
        <p:nvSpPr>
          <p:cNvPr id="4" name="Text 2"/>
          <p:cNvSpPr txBox="1"/>
          <p:nvPr/>
        </p:nvSpPr>
        <p:spPr>
          <a:xfrm>
            <a:off x="777240" y="1600200"/>
            <a:ext cx="210312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Phase I</a:t>
            </a:r>
            <a:endParaRPr lang="en-US" sz="1400" dirty="0"/>
          </a:p>
        </p:txBody>
      </p:sp>
      <p:sp>
        <p:nvSpPr>
          <p:cNvPr id="5" name="Text 3"/>
          <p:cNvSpPr txBox="1"/>
          <p:nvPr/>
        </p:nvSpPr>
        <p:spPr>
          <a:xfrm>
            <a:off x="777240" y="1920240"/>
            <a:ext cx="210312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Detect</a:t>
            </a:r>
            <a:endParaRPr lang="en-US" sz="2000" dirty="0"/>
          </a:p>
        </p:txBody>
      </p:sp>
      <p:sp>
        <p:nvSpPr>
          <p:cNvPr id="6" name="Text 4"/>
          <p:cNvSpPr txBox="1"/>
          <p:nvPr/>
        </p:nvSpPr>
        <p:spPr>
          <a:xfrm>
            <a:off x="777240" y="2697480"/>
            <a:ext cx="21031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XGBoost on 45 flow features, 19 classes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Temperature-scaled confidence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Alert if attack and confidence at least 0.6</a:t>
            </a:r>
            <a:endParaRPr lang="en-US" sz="1400" dirty="0"/>
          </a:p>
        </p:txBody>
      </p:sp>
      <p:sp>
        <p:nvSpPr>
          <p:cNvPr id="7" name="Tag 1"/>
          <p:cNvSpPr/>
          <p:nvPr/>
        </p:nvSpPr>
        <p:spPr>
          <a:xfrm>
            <a:off x="777240" y="4480560"/>
            <a:ext cx="2103120" cy="365760"/>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777240" y="4480560"/>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Machine learning</a:t>
            </a:r>
            <a:endParaRPr lang="en-US" sz="1200" dirty="0"/>
          </a:p>
        </p:txBody>
      </p:sp>
      <p:sp>
        <p:nvSpPr>
          <p:cNvPr id="9" name="Shape 7"/>
          <p:cNvSpPr/>
          <p:nvPr/>
        </p:nvSpPr>
        <p:spPr>
          <a:xfrm>
            <a:off x="3127248" y="3246120"/>
            <a:ext cx="237744" cy="0"/>
          </a:xfrm>
          <a:prstGeom prst="line">
            <a:avLst/>
          </a:prstGeom>
          <a:noFill/>
          <a:ln w="25400">
            <a:solidFill>
              <a:schemeClr val="tx2"/>
            </a:solidFill>
            <a:prstDash val="solid"/>
            <a:tailEnd type="triangle"/>
          </a:ln>
        </p:spPr>
      </p:sp>
      <p:sp>
        <p:nvSpPr>
          <p:cNvPr id="10" name="Phase box 2"/>
          <p:cNvSpPr/>
          <p:nvPr/>
        </p:nvSpPr>
        <p:spPr>
          <a:xfrm>
            <a:off x="3383280" y="1463040"/>
            <a:ext cx="2560320" cy="3566160"/>
          </a:xfrm>
          <a:prstGeom prst="roundRect">
            <a:avLst>
              <a:gd name="adj" fmla="val 3571"/>
            </a:avLst>
          </a:prstGeom>
          <a:solidFill>
            <a:schemeClr val="bg2"/>
          </a:solidFill>
          <a:ln w="12700">
            <a:solidFill>
              <a:schemeClr val="accent5"/>
            </a:solidFill>
            <a:prstDash val="solid"/>
          </a:ln>
        </p:spPr>
      </p:sp>
      <p:sp>
        <p:nvSpPr>
          <p:cNvPr id="11" name="Text 9"/>
          <p:cNvSpPr txBox="1"/>
          <p:nvPr/>
        </p:nvSpPr>
        <p:spPr>
          <a:xfrm>
            <a:off x="3611880" y="1600200"/>
            <a:ext cx="210312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Phase II</a:t>
            </a:r>
            <a:endParaRPr lang="en-US" sz="1400" dirty="0"/>
          </a:p>
        </p:txBody>
      </p:sp>
      <p:sp>
        <p:nvSpPr>
          <p:cNvPr id="12" name="Text 10"/>
          <p:cNvSpPr txBox="1"/>
          <p:nvPr/>
        </p:nvSpPr>
        <p:spPr>
          <a:xfrm>
            <a:off x="3611880" y="1920240"/>
            <a:ext cx="210312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Investigate and plan</a:t>
            </a:r>
            <a:endParaRPr lang="en-US" sz="2000" dirty="0"/>
          </a:p>
        </p:txBody>
      </p:sp>
      <p:sp>
        <p:nvSpPr>
          <p:cNvPr id="13" name="Text 11"/>
          <p:cNvSpPr txBox="1"/>
          <p:nvPr/>
        </p:nvSpPr>
        <p:spPr>
          <a:xfrm>
            <a:off x="3611880" y="2697480"/>
            <a:ext cx="21031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Four language-model agents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Device registry overrides the model's clinical claims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Bad output: retry once, then stall</a:t>
            </a:r>
            <a:endParaRPr lang="en-US" sz="1400" dirty="0"/>
          </a:p>
        </p:txBody>
      </p:sp>
      <p:sp>
        <p:nvSpPr>
          <p:cNvPr id="14" name="Tag 2"/>
          <p:cNvSpPr/>
          <p:nvPr/>
        </p:nvSpPr>
        <p:spPr>
          <a:xfrm>
            <a:off x="3611880" y="4480560"/>
            <a:ext cx="2103120" cy="365760"/>
          </a:xfrm>
          <a:prstGeom prst="roundRect">
            <a:avLst>
              <a:gd name="adj" fmla="val 50000"/>
            </a:avLst>
          </a:prstGeom>
          <a:solidFill>
            <a:schemeClr val="accent1"/>
          </a:solidFill>
          <a:ln w="12700">
            <a:solidFill>
              <a:schemeClr val="accent1"/>
            </a:solidFill>
            <a:prstDash val="solid"/>
          </a:ln>
        </p:spPr>
      </p:sp>
      <p:sp>
        <p:nvSpPr>
          <p:cNvPr id="15" name="Text 13"/>
          <p:cNvSpPr txBox="1"/>
          <p:nvPr/>
        </p:nvSpPr>
        <p:spPr>
          <a:xfrm>
            <a:off x="3611880" y="4480560"/>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Language models + guards</a:t>
            </a:r>
            <a:endParaRPr lang="en-US" sz="1200" dirty="0"/>
          </a:p>
        </p:txBody>
      </p:sp>
      <p:sp>
        <p:nvSpPr>
          <p:cNvPr id="16" name="Shape 14"/>
          <p:cNvSpPr/>
          <p:nvPr/>
        </p:nvSpPr>
        <p:spPr>
          <a:xfrm>
            <a:off x="5961888" y="3246120"/>
            <a:ext cx="237744" cy="0"/>
          </a:xfrm>
          <a:prstGeom prst="line">
            <a:avLst/>
          </a:prstGeom>
          <a:noFill/>
          <a:ln w="25400">
            <a:solidFill>
              <a:schemeClr val="tx2"/>
            </a:solidFill>
            <a:prstDash val="solid"/>
            <a:tailEnd type="triangle"/>
          </a:ln>
        </p:spPr>
      </p:sp>
      <p:sp>
        <p:nvSpPr>
          <p:cNvPr id="17" name="Phase box 3"/>
          <p:cNvSpPr/>
          <p:nvPr/>
        </p:nvSpPr>
        <p:spPr>
          <a:xfrm>
            <a:off x="6217920" y="1463040"/>
            <a:ext cx="2560320" cy="3566160"/>
          </a:xfrm>
          <a:prstGeom prst="roundRect">
            <a:avLst>
              <a:gd name="adj" fmla="val 3571"/>
            </a:avLst>
          </a:prstGeom>
          <a:solidFill>
            <a:schemeClr val="bg2"/>
          </a:solidFill>
          <a:ln w="12700">
            <a:solidFill>
              <a:schemeClr val="accent5"/>
            </a:solidFill>
            <a:prstDash val="solid"/>
          </a:ln>
        </p:spPr>
      </p:sp>
      <p:sp>
        <p:nvSpPr>
          <p:cNvPr id="18" name="Text 16"/>
          <p:cNvSpPr txBox="1"/>
          <p:nvPr/>
        </p:nvSpPr>
        <p:spPr>
          <a:xfrm>
            <a:off x="6446520" y="1600200"/>
            <a:ext cx="210312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Phase III</a:t>
            </a:r>
            <a:endParaRPr lang="en-US" sz="1400" dirty="0"/>
          </a:p>
        </p:txBody>
      </p:sp>
      <p:sp>
        <p:nvSpPr>
          <p:cNvPr id="19" name="Text 17"/>
          <p:cNvSpPr txBox="1"/>
          <p:nvPr/>
        </p:nvSpPr>
        <p:spPr>
          <a:xfrm>
            <a:off x="6446520" y="1920240"/>
            <a:ext cx="210312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Decide and respond</a:t>
            </a:r>
            <a:endParaRPr lang="en-US" sz="2000" dirty="0"/>
          </a:p>
        </p:txBody>
      </p:sp>
      <p:sp>
        <p:nvSpPr>
          <p:cNvPr id="20" name="Text 18"/>
          <p:cNvSpPr txBox="1"/>
          <p:nvPr/>
        </p:nvSpPr>
        <p:spPr>
          <a:xfrm>
            <a:off x="6446520" y="2697480"/>
            <a:ext cx="21031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Risk Engine scores it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Policy Engine: act or ask a human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Severe action, patient-dependent device: human decides</a:t>
            </a:r>
            <a:endParaRPr lang="en-US" sz="1400" dirty="0"/>
          </a:p>
        </p:txBody>
      </p:sp>
      <p:sp>
        <p:nvSpPr>
          <p:cNvPr id="21" name="Tag 3"/>
          <p:cNvSpPr/>
          <p:nvPr/>
        </p:nvSpPr>
        <p:spPr>
          <a:xfrm>
            <a:off x="6446520" y="4480560"/>
            <a:ext cx="2103120" cy="365760"/>
          </a:xfrm>
          <a:prstGeom prst="roundRect">
            <a:avLst>
              <a:gd name="adj" fmla="val 50000"/>
            </a:avLst>
          </a:prstGeom>
          <a:solidFill>
            <a:schemeClr val="accent1"/>
          </a:solidFill>
          <a:ln w="12700">
            <a:solidFill>
              <a:schemeClr val="accent1"/>
            </a:solidFill>
            <a:prstDash val="solid"/>
          </a:ln>
        </p:spPr>
      </p:sp>
      <p:sp>
        <p:nvSpPr>
          <p:cNvPr id="22" name="Text 20"/>
          <p:cNvSpPr txBox="1"/>
          <p:nvPr/>
        </p:nvSpPr>
        <p:spPr>
          <a:xfrm>
            <a:off x="6446520" y="4480560"/>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Deterministic rules</a:t>
            </a:r>
            <a:endParaRPr lang="en-US" sz="1200" dirty="0"/>
          </a:p>
        </p:txBody>
      </p:sp>
      <p:sp>
        <p:nvSpPr>
          <p:cNvPr id="23" name="Shape 21"/>
          <p:cNvSpPr/>
          <p:nvPr/>
        </p:nvSpPr>
        <p:spPr>
          <a:xfrm>
            <a:off x="8796528" y="3246120"/>
            <a:ext cx="237744" cy="0"/>
          </a:xfrm>
          <a:prstGeom prst="line">
            <a:avLst/>
          </a:prstGeom>
          <a:noFill/>
          <a:ln w="25400">
            <a:solidFill>
              <a:schemeClr val="tx2"/>
            </a:solidFill>
            <a:prstDash val="solid"/>
            <a:tailEnd type="triangle"/>
          </a:ln>
        </p:spPr>
      </p:sp>
      <p:sp>
        <p:nvSpPr>
          <p:cNvPr id="24" name="Phase box 4"/>
          <p:cNvSpPr/>
          <p:nvPr/>
        </p:nvSpPr>
        <p:spPr>
          <a:xfrm>
            <a:off x="9052560" y="1463040"/>
            <a:ext cx="2560320" cy="3566160"/>
          </a:xfrm>
          <a:prstGeom prst="roundRect">
            <a:avLst>
              <a:gd name="adj" fmla="val 3571"/>
            </a:avLst>
          </a:prstGeom>
          <a:solidFill>
            <a:schemeClr val="bg2"/>
          </a:solidFill>
          <a:ln w="12700">
            <a:solidFill>
              <a:schemeClr val="accent5"/>
            </a:solidFill>
            <a:prstDash val="solid"/>
          </a:ln>
        </p:spPr>
      </p:sp>
      <p:sp>
        <p:nvSpPr>
          <p:cNvPr id="25" name="Text 23"/>
          <p:cNvSpPr txBox="1"/>
          <p:nvPr/>
        </p:nvSpPr>
        <p:spPr>
          <a:xfrm>
            <a:off x="9281160" y="1600200"/>
            <a:ext cx="210312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Phase IV</a:t>
            </a:r>
            <a:endParaRPr lang="en-US" sz="1400" dirty="0"/>
          </a:p>
        </p:txBody>
      </p:sp>
      <p:sp>
        <p:nvSpPr>
          <p:cNvPr id="26" name="Text 24"/>
          <p:cNvSpPr txBox="1"/>
          <p:nvPr/>
        </p:nvSpPr>
        <p:spPr>
          <a:xfrm>
            <a:off x="9281160" y="1920240"/>
            <a:ext cx="210312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Verify and record</a:t>
            </a:r>
            <a:endParaRPr lang="en-US" sz="2000" dirty="0"/>
          </a:p>
        </p:txBody>
      </p:sp>
      <p:sp>
        <p:nvSpPr>
          <p:cNvPr id="27" name="Text 25"/>
          <p:cNvSpPr txBox="1"/>
          <p:nvPr/>
        </p:nvSpPr>
        <p:spPr>
          <a:xfrm>
            <a:off x="9281160" y="2697480"/>
            <a:ext cx="21031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Recovery agent checks the device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Guard overrides a false 'recovered'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Resolve or reopen the incident</a:t>
            </a:r>
            <a:endParaRPr lang="en-US" sz="1400" dirty="0"/>
          </a:p>
        </p:txBody>
      </p:sp>
      <p:sp>
        <p:nvSpPr>
          <p:cNvPr id="28" name="Tag 4"/>
          <p:cNvSpPr/>
          <p:nvPr/>
        </p:nvSpPr>
        <p:spPr>
          <a:xfrm>
            <a:off x="9281160" y="4480560"/>
            <a:ext cx="2103120" cy="365760"/>
          </a:xfrm>
          <a:prstGeom prst="roundRect">
            <a:avLst>
              <a:gd name="adj" fmla="val 50000"/>
            </a:avLst>
          </a:prstGeom>
          <a:solidFill>
            <a:schemeClr val="accent1"/>
          </a:solidFill>
          <a:ln w="12700">
            <a:solidFill>
              <a:schemeClr val="accent1"/>
            </a:solidFill>
            <a:prstDash val="solid"/>
          </a:ln>
        </p:spPr>
      </p:sp>
      <p:sp>
        <p:nvSpPr>
          <p:cNvPr id="29" name="Text 27"/>
          <p:cNvSpPr txBox="1"/>
          <p:nvPr/>
        </p:nvSpPr>
        <p:spPr>
          <a:xfrm>
            <a:off x="9281160" y="4480560"/>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Language model + guard</a:t>
            </a:r>
            <a:endParaRPr lang="en-US" sz="1200" dirty="0"/>
          </a:p>
        </p:txBody>
      </p:sp>
      <p:sp>
        <p:nvSpPr>
          <p:cNvPr id="30" name="Ledger bar"/>
          <p:cNvSpPr/>
          <p:nvPr/>
        </p:nvSpPr>
        <p:spPr>
          <a:xfrm>
            <a:off x="548640" y="5303520"/>
            <a:ext cx="11064240" cy="777240"/>
          </a:xfrm>
          <a:prstGeom prst="roundRect">
            <a:avLst>
              <a:gd name="adj" fmla="val 11765"/>
            </a:avLst>
          </a:prstGeom>
          <a:solidFill>
            <a:schemeClr val="tx2"/>
          </a:solidFill>
          <a:ln w="12700">
            <a:solidFill>
              <a:schemeClr val="tx2"/>
            </a:solidFill>
            <a:prstDash val="solid"/>
          </a:ln>
        </p:spPr>
      </p:sp>
      <p:sp>
        <p:nvSpPr>
          <p:cNvPr id="31" name="Text 29"/>
          <p:cNvSpPr txBox="1"/>
          <p:nvPr/>
        </p:nvSpPr>
        <p:spPr>
          <a:xfrm>
            <a:off x="777240" y="5303520"/>
            <a:ext cx="10607040" cy="77724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Hyperledger Fabric ledger, off the response path: </a:t>
            </a:r>
            <a:pPr indent="0" marL="0">
              <a:buNone/>
            </a:pPr>
            <a:r>
              <a:rPr lang="en-US" sz="1500" dirty="0">
                <a:solidFill>
                  <a:schemeClr val="bg1"/>
                </a:solidFill>
                <a:latin typeface="Calibri" pitchFamily="34" charset="0"/>
                <a:ea typeface="Calibri" pitchFamily="34" charset="-122"/>
                <a:cs typeface="Calibri" pitchFamily="34" charset="-120"/>
              </a:rPr>
              <a:t>incident, decision, approval, response and recovery records, each storing an evidence hash and committed only if both organisations endorse.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The detector is accurate and stable</a:t>
            </a:r>
            <a:endParaRPr lang="en-US" sz="3400" dirty="0"/>
          </a:p>
        </p:txBody>
      </p:sp>
      <p:sp>
        <p:nvSpPr>
          <p:cNvPr id="3" name="Stat tile 1"/>
          <p:cNvSpPr/>
          <p:nvPr/>
        </p:nvSpPr>
        <p:spPr>
          <a:xfrm>
            <a:off x="548640" y="1463040"/>
            <a:ext cx="2560320" cy="1920240"/>
          </a:xfrm>
          <a:prstGeom prst="roundRect">
            <a:avLst>
              <a:gd name="adj" fmla="val 4762"/>
            </a:avLst>
          </a:prstGeom>
          <a:solidFill>
            <a:schemeClr val="bg2"/>
          </a:solidFill>
          <a:ln w="12700">
            <a:solidFill>
              <a:schemeClr val="bg2"/>
            </a:solidFill>
            <a:prstDash val="solid"/>
          </a:ln>
        </p:spPr>
      </p:sp>
      <p:sp>
        <p:nvSpPr>
          <p:cNvPr id="4" name="Text 2"/>
          <p:cNvSpPr txBox="1"/>
          <p:nvPr/>
        </p:nvSpPr>
        <p:spPr>
          <a:xfrm>
            <a:off x="731520" y="1645920"/>
            <a:ext cx="2194560" cy="82296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99.52%</a:t>
            </a:r>
            <a:endParaRPr lang="en-US" sz="3800" dirty="0"/>
          </a:p>
        </p:txBody>
      </p:sp>
      <p:sp>
        <p:nvSpPr>
          <p:cNvPr id="5" name="Text 3"/>
          <p:cNvSpPr txBox="1"/>
          <p:nvPr/>
        </p:nvSpPr>
        <p:spPr>
          <a:xfrm>
            <a:off x="731520" y="2514600"/>
            <a:ext cx="21945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19-class accuracy, full test split</a:t>
            </a:r>
            <a:endParaRPr lang="en-US" sz="1400" dirty="0"/>
          </a:p>
        </p:txBody>
      </p:sp>
      <p:sp>
        <p:nvSpPr>
          <p:cNvPr id="6" name="Stat tile 2"/>
          <p:cNvSpPr/>
          <p:nvPr/>
        </p:nvSpPr>
        <p:spPr>
          <a:xfrm>
            <a:off x="3291840" y="1463040"/>
            <a:ext cx="2560320" cy="1920240"/>
          </a:xfrm>
          <a:prstGeom prst="roundRect">
            <a:avLst>
              <a:gd name="adj" fmla="val 4762"/>
            </a:avLst>
          </a:prstGeom>
          <a:solidFill>
            <a:schemeClr val="bg2"/>
          </a:solidFill>
          <a:ln w="12700">
            <a:solidFill>
              <a:schemeClr val="bg2"/>
            </a:solidFill>
            <a:prstDash val="solid"/>
          </a:ln>
        </p:spPr>
      </p:sp>
      <p:sp>
        <p:nvSpPr>
          <p:cNvPr id="7" name="Text 5"/>
          <p:cNvSpPr txBox="1"/>
          <p:nvPr/>
        </p:nvSpPr>
        <p:spPr>
          <a:xfrm>
            <a:off x="3474720" y="1645920"/>
            <a:ext cx="2194560" cy="82296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99.97%</a:t>
            </a:r>
            <a:endParaRPr lang="en-US" sz="3800" dirty="0"/>
          </a:p>
        </p:txBody>
      </p:sp>
      <p:sp>
        <p:nvSpPr>
          <p:cNvPr id="8" name="Text 6"/>
          <p:cNvSpPr txBox="1"/>
          <p:nvPr/>
        </p:nvSpPr>
        <p:spPr>
          <a:xfrm>
            <a:off x="3474720" y="2514600"/>
            <a:ext cx="21945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of attack flows flagged as an attack</a:t>
            </a:r>
            <a:endParaRPr lang="en-US" sz="1400" dirty="0"/>
          </a:p>
        </p:txBody>
      </p:sp>
      <p:sp>
        <p:nvSpPr>
          <p:cNvPr id="9" name="Stat tile 3"/>
          <p:cNvSpPr/>
          <p:nvPr/>
        </p:nvSpPr>
        <p:spPr>
          <a:xfrm>
            <a:off x="548640" y="3611880"/>
            <a:ext cx="2560320" cy="1920240"/>
          </a:xfrm>
          <a:prstGeom prst="roundRect">
            <a:avLst>
              <a:gd name="adj" fmla="val 4762"/>
            </a:avLst>
          </a:prstGeom>
          <a:solidFill>
            <a:schemeClr val="bg2"/>
          </a:solidFill>
          <a:ln w="12700">
            <a:solidFill>
              <a:schemeClr val="bg2"/>
            </a:solidFill>
            <a:prstDash val="solid"/>
          </a:ln>
        </p:spPr>
      </p:sp>
      <p:sp>
        <p:nvSpPr>
          <p:cNvPr id="10" name="Text 8"/>
          <p:cNvSpPr txBox="1"/>
          <p:nvPr/>
        </p:nvSpPr>
        <p:spPr>
          <a:xfrm>
            <a:off x="731520" y="3794760"/>
            <a:ext cx="2194560" cy="82296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0.9103</a:t>
            </a:r>
            <a:endParaRPr lang="en-US" sz="3800" dirty="0"/>
          </a:p>
        </p:txBody>
      </p:sp>
      <p:sp>
        <p:nvSpPr>
          <p:cNvPr id="11" name="Text 9"/>
          <p:cNvSpPr txBox="1"/>
          <p:nvPr/>
        </p:nvSpPr>
        <p:spPr>
          <a:xfrm>
            <a:off x="731520" y="4663440"/>
            <a:ext cx="21945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macro-F1, mean of 5 seeds (± 0.0017)</a:t>
            </a:r>
            <a:endParaRPr lang="en-US" sz="1400" dirty="0"/>
          </a:p>
        </p:txBody>
      </p:sp>
      <p:sp>
        <p:nvSpPr>
          <p:cNvPr id="12" name="Stat tile 4"/>
          <p:cNvSpPr/>
          <p:nvPr/>
        </p:nvSpPr>
        <p:spPr>
          <a:xfrm>
            <a:off x="3291840" y="3611880"/>
            <a:ext cx="2560320" cy="1920240"/>
          </a:xfrm>
          <a:prstGeom prst="roundRect">
            <a:avLst>
              <a:gd name="adj" fmla="val 4762"/>
            </a:avLst>
          </a:prstGeom>
          <a:solidFill>
            <a:schemeClr val="bg2"/>
          </a:solidFill>
          <a:ln w="12700">
            <a:solidFill>
              <a:schemeClr val="bg2"/>
            </a:solidFill>
            <a:prstDash val="solid"/>
          </a:ln>
        </p:spPr>
      </p:sp>
      <p:sp>
        <p:nvSpPr>
          <p:cNvPr id="13" name="Text 11"/>
          <p:cNvSpPr txBox="1"/>
          <p:nvPr/>
        </p:nvSpPr>
        <p:spPr>
          <a:xfrm>
            <a:off x="3474720" y="3794760"/>
            <a:ext cx="2194560" cy="82296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0.99996</a:t>
            </a:r>
            <a:endParaRPr lang="en-US" sz="3800" dirty="0"/>
          </a:p>
        </p:txBody>
      </p:sp>
      <p:sp>
        <p:nvSpPr>
          <p:cNvPr id="14" name="Text 12"/>
          <p:cNvSpPr txBox="1"/>
          <p:nvPr/>
        </p:nvSpPr>
        <p:spPr>
          <a:xfrm>
            <a:off x="3474720" y="4663440"/>
            <a:ext cx="21945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ROC area under the curve</a:t>
            </a:r>
            <a:endParaRPr lang="en-US" sz="1400" dirty="0"/>
          </a:p>
        </p:txBody>
      </p:sp>
      <p:graphicFrame>
        <p:nvGraphicFramePr>
          <p:cNvPr id="15" name="Chart 0" descr=""/>
          <p:cNvGraphicFramePr/>
          <p:nvPr/>
        </p:nvGraphicFramePr>
        <p:xfrm>
          <a:off x="6309360" y="137160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48640" y="5806440"/>
            <a:ext cx="11064240" cy="54864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Official CICIoMT2024 capture-level split, all 1,614,182 test flows. Models in the chart train on at most 30,000 flows per class; the linear and neural baselines are untuned. XGBoost's edge over a single decision tree is small.</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Where the detector errs, and how it compares</a:t>
            </a:r>
            <a:endParaRPr lang="en-US" sz="3400" dirty="0"/>
          </a:p>
        </p:txBody>
      </p:sp>
      <p:graphicFrame>
        <p:nvGraphicFramePr>
          <p:cNvPr id="3" name="Chart 0" descr=""/>
          <p:cNvGraphicFramePr/>
          <p:nvPr/>
        </p:nvGraphicFramePr>
        <p:xfrm>
          <a:off x="548640" y="1280160"/>
          <a:ext cx="548640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309360" y="1280160"/>
          <a:ext cx="5394960" cy="3200400"/>
        </p:xfrm>
        <a:graphic xmlns:a="http://schemas.openxmlformats.org/drawingml/2006/main">
          <a:graphicData uri="http://schemas.openxmlformats.org/drawingml/2006/chart">
            <c:chart xmlns:c="http://schemas.openxmlformats.org/drawingml/2006/chart" r:id="rId2"/>
          </a:graphicData>
        </a:graphic>
      </p:graphicFrame>
      <p:sp>
        <p:nvSpPr>
          <p:cNvPr id="5" name="Interval tile 1"/>
          <p:cNvSpPr/>
          <p:nvPr/>
        </p:nvSpPr>
        <p:spPr>
          <a:xfrm>
            <a:off x="548640" y="4663440"/>
            <a:ext cx="3566160" cy="1005840"/>
          </a:xfrm>
          <a:prstGeom prst="roundRect">
            <a:avLst>
              <a:gd name="adj" fmla="val 9091"/>
            </a:avLst>
          </a:prstGeom>
          <a:solidFill>
            <a:schemeClr val="bg2"/>
          </a:solidFill>
          <a:ln w="12700">
            <a:solidFill>
              <a:schemeClr val="bg2"/>
            </a:solidFill>
            <a:prstDash val="solid"/>
          </a:ln>
        </p:spPr>
      </p:sp>
      <p:sp>
        <p:nvSpPr>
          <p:cNvPr id="6" name="Text 2"/>
          <p:cNvSpPr txBox="1"/>
          <p:nvPr/>
        </p:nvSpPr>
        <p:spPr>
          <a:xfrm>
            <a:off x="731520" y="4709160"/>
            <a:ext cx="32004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0.9951 – 0.9953</a:t>
            </a:r>
            <a:endParaRPr lang="en-US" sz="2400" dirty="0"/>
          </a:p>
        </p:txBody>
      </p:sp>
      <p:sp>
        <p:nvSpPr>
          <p:cNvPr id="7" name="Text 3"/>
          <p:cNvSpPr txBox="1"/>
          <p:nvPr/>
        </p:nvSpPr>
        <p:spPr>
          <a:xfrm>
            <a:off x="731520" y="5230368"/>
            <a:ext cx="3200400" cy="3657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accuracy, 95% bootstrap interval</a:t>
            </a:r>
            <a:endParaRPr lang="en-US" sz="1300" dirty="0"/>
          </a:p>
        </p:txBody>
      </p:sp>
      <p:sp>
        <p:nvSpPr>
          <p:cNvPr id="8" name="Interval tile 2"/>
          <p:cNvSpPr/>
          <p:nvPr/>
        </p:nvSpPr>
        <p:spPr>
          <a:xfrm>
            <a:off x="4297680" y="4663440"/>
            <a:ext cx="3566160" cy="1005840"/>
          </a:xfrm>
          <a:prstGeom prst="roundRect">
            <a:avLst>
              <a:gd name="adj" fmla="val 9091"/>
            </a:avLst>
          </a:prstGeom>
          <a:solidFill>
            <a:schemeClr val="bg2"/>
          </a:solidFill>
          <a:ln w="12700">
            <a:solidFill>
              <a:schemeClr val="bg2"/>
            </a:solidFill>
            <a:prstDash val="solid"/>
          </a:ln>
        </p:spPr>
      </p:sp>
      <p:sp>
        <p:nvSpPr>
          <p:cNvPr id="9" name="Text 5"/>
          <p:cNvSpPr txBox="1"/>
          <p:nvPr/>
        </p:nvSpPr>
        <p:spPr>
          <a:xfrm>
            <a:off x="4480560" y="4709160"/>
            <a:ext cx="32004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0.9233 – 0.9291</a:t>
            </a:r>
            <a:endParaRPr lang="en-US" sz="2400" dirty="0"/>
          </a:p>
        </p:txBody>
      </p:sp>
      <p:sp>
        <p:nvSpPr>
          <p:cNvPr id="10" name="Text 6"/>
          <p:cNvSpPr txBox="1"/>
          <p:nvPr/>
        </p:nvSpPr>
        <p:spPr>
          <a:xfrm>
            <a:off x="4480560" y="5230368"/>
            <a:ext cx="3200400" cy="3657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macro-F1, 95% bootstrap interval</a:t>
            </a:r>
            <a:endParaRPr lang="en-US" sz="1300" dirty="0"/>
          </a:p>
        </p:txBody>
      </p:sp>
      <p:sp>
        <p:nvSpPr>
          <p:cNvPr id="11" name="Interval tile 3"/>
          <p:cNvSpPr/>
          <p:nvPr/>
        </p:nvSpPr>
        <p:spPr>
          <a:xfrm>
            <a:off x="8046720" y="4663440"/>
            <a:ext cx="3566160" cy="1005840"/>
          </a:xfrm>
          <a:prstGeom prst="roundRect">
            <a:avLst>
              <a:gd name="adj" fmla="val 9091"/>
            </a:avLst>
          </a:prstGeom>
          <a:solidFill>
            <a:schemeClr val="bg2"/>
          </a:solidFill>
          <a:ln w="12700">
            <a:solidFill>
              <a:schemeClr val="bg2"/>
            </a:solidFill>
            <a:prstDash val="solid"/>
          </a:ln>
        </p:spPr>
      </p:sp>
      <p:sp>
        <p:nvSpPr>
          <p:cNvPr id="12" name="Text 8"/>
          <p:cNvSpPr txBox="1"/>
          <p:nvPr/>
        </p:nvSpPr>
        <p:spPr>
          <a:xfrm>
            <a:off x="8229600" y="4709160"/>
            <a:ext cx="320040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4.9% – 5.3%</a:t>
            </a:r>
            <a:endParaRPr lang="en-US" sz="2400" dirty="0"/>
          </a:p>
        </p:txBody>
      </p:sp>
      <p:sp>
        <p:nvSpPr>
          <p:cNvPr id="13" name="Text 9"/>
          <p:cNvSpPr txBox="1"/>
          <p:nvPr/>
        </p:nvSpPr>
        <p:spPr>
          <a:xfrm>
            <a:off x="8229600" y="5230368"/>
            <a:ext cx="3200400" cy="3657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benign flows flagged as attacks</a:t>
            </a:r>
            <a:endParaRPr lang="en-US" sz="1300" dirty="0"/>
          </a:p>
        </p:txBody>
      </p:sp>
      <p:sp>
        <p:nvSpPr>
          <p:cNvPr id="14" name="Text 10"/>
          <p:cNvSpPr txBox="1"/>
          <p:nvPr/>
        </p:nvSpPr>
        <p:spPr>
          <a:xfrm>
            <a:off x="548640" y="5760720"/>
            <a:ext cx="10607040" cy="59436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Comparison is indicative only: other authors' splits and class definitions may differ from the official capture-level split used here. Intervals treat flows as independent, so they understate uncertainty across captures. DoS/DDoS confusions change no decision, because the response depends on attack versus not, not on which attack.</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Zero unsafe actions; the cost is approvals</a:t>
            </a:r>
            <a:endParaRPr lang="en-US" sz="3400" dirty="0"/>
          </a:p>
        </p:txBody>
      </p:sp>
      <p:graphicFrame>
        <p:nvGraphicFramePr>
          <p:cNvPr id="3" name="Chart 0" descr=""/>
          <p:cNvGraphicFramePr/>
          <p:nvPr/>
        </p:nvGraphicFramePr>
        <p:xfrm>
          <a:off x="548640" y="1280160"/>
          <a:ext cx="54864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309360" y="1280160"/>
          <a:ext cx="5394960" cy="3566160"/>
        </p:xfrm>
        <a:graphic xmlns:a="http://schemas.openxmlformats.org/drawingml/2006/main">
          <a:graphicData uri="http://schemas.openxmlformats.org/drawingml/2006/chart">
            <c:chart xmlns:c="http://schemas.openxmlformats.org/drawingml/2006/chart" r:id="rId2"/>
          </a:graphicData>
        </a:graphic>
      </p:graphicFrame>
      <p:sp>
        <p:nvSpPr>
          <p:cNvPr id="5" name="Result tile 1"/>
          <p:cNvSpPr/>
          <p:nvPr/>
        </p:nvSpPr>
        <p:spPr>
          <a:xfrm>
            <a:off x="548640" y="5074920"/>
            <a:ext cx="5303520" cy="1143000"/>
          </a:xfrm>
          <a:prstGeom prst="roundRect">
            <a:avLst>
              <a:gd name="adj" fmla="val 8000"/>
            </a:avLst>
          </a:prstGeom>
          <a:solidFill>
            <a:schemeClr val="bg2"/>
          </a:solidFill>
          <a:ln w="12700">
            <a:solidFill>
              <a:schemeClr val="bg2"/>
            </a:solidFill>
            <a:prstDash val="solid"/>
          </a:ln>
        </p:spPr>
      </p:sp>
      <p:sp>
        <p:nvSpPr>
          <p:cNvPr id="6" name="Text 2"/>
          <p:cNvSpPr txBox="1"/>
          <p:nvPr/>
        </p:nvSpPr>
        <p:spPr>
          <a:xfrm>
            <a:off x="777240" y="5120640"/>
            <a:ext cx="2377440" cy="105156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 of 1,312,874</a:t>
            </a:r>
            <a:endParaRPr lang="en-US" sz="2400" dirty="0"/>
          </a:p>
        </p:txBody>
      </p:sp>
      <p:sp>
        <p:nvSpPr>
          <p:cNvPr id="7" name="Text 3"/>
          <p:cNvSpPr txBox="1"/>
          <p:nvPr/>
        </p:nvSpPr>
        <p:spPr>
          <a:xfrm>
            <a:off x="3200400" y="5120640"/>
            <a:ext cx="2468880" cy="10515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high-stakes attacks led to an unsafe autonomous action (5 seeds)</a:t>
            </a:r>
            <a:endParaRPr lang="en-US" sz="1400" dirty="0"/>
          </a:p>
        </p:txBody>
      </p:sp>
      <p:sp>
        <p:nvSpPr>
          <p:cNvPr id="8" name="Result tile 2"/>
          <p:cNvSpPr/>
          <p:nvPr/>
        </p:nvSpPr>
        <p:spPr>
          <a:xfrm>
            <a:off x="6309360" y="5074920"/>
            <a:ext cx="5303520" cy="1143000"/>
          </a:xfrm>
          <a:prstGeom prst="roundRect">
            <a:avLst>
              <a:gd name="adj" fmla="val 8000"/>
            </a:avLst>
          </a:prstGeom>
          <a:solidFill>
            <a:schemeClr val="bg2"/>
          </a:solidFill>
          <a:ln w="12700">
            <a:solidFill>
              <a:schemeClr val="bg2"/>
            </a:solidFill>
            <a:prstDash val="solid"/>
          </a:ln>
        </p:spPr>
      </p:sp>
      <p:sp>
        <p:nvSpPr>
          <p:cNvPr id="9" name="Text 5"/>
          <p:cNvSpPr txBox="1"/>
          <p:nvPr/>
        </p:nvSpPr>
        <p:spPr>
          <a:xfrm>
            <a:off x="6537960" y="5120640"/>
            <a:ext cx="2377440" cy="105156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 of 3,168</a:t>
            </a:r>
            <a:endParaRPr lang="en-US" sz="2400" dirty="0"/>
          </a:p>
        </p:txBody>
      </p:sp>
      <p:sp>
        <p:nvSpPr>
          <p:cNvPr id="10" name="Text 6"/>
          <p:cNvSpPr txBox="1"/>
          <p:nvPr/>
        </p:nvSpPr>
        <p:spPr>
          <a:xfrm>
            <a:off x="8961120" y="5120640"/>
            <a:ext cx="2468880" cy="10515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policy inputs violate the rule, checked exhaustively</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Fault injection and ledger evidence</a:t>
            </a:r>
            <a:endParaRPr lang="en-US" sz="3400" dirty="0"/>
          </a:p>
        </p:txBody>
      </p:sp>
      <p:graphicFrame>
        <p:nvGraphicFramePr>
          <p:cNvPr id="3" name="Chart 0" descr=""/>
          <p:cNvGraphicFramePr/>
          <p:nvPr/>
        </p:nvGraphicFramePr>
        <p:xfrm>
          <a:off x="548640" y="1280160"/>
          <a:ext cx="548640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309360" y="1280160"/>
          <a:ext cx="5394960" cy="3383280"/>
        </p:xfrm>
        <a:graphic xmlns:a="http://schemas.openxmlformats.org/drawingml/2006/main">
          <a:graphicData uri="http://schemas.openxmlformats.org/drawingml/2006/chart">
            <c:chart xmlns:c="http://schemas.openxmlformats.org/drawingml/2006/chart" r:id="rId2"/>
          </a:graphicData>
        </a:graphic>
      </p:graphicFrame>
      <p:sp>
        <p:nvSpPr>
          <p:cNvPr id="5" name="Evidence tile 1"/>
          <p:cNvSpPr/>
          <p:nvPr/>
        </p:nvSpPr>
        <p:spPr>
          <a:xfrm>
            <a:off x="548640" y="4892040"/>
            <a:ext cx="3566160" cy="1280160"/>
          </a:xfrm>
          <a:prstGeom prst="roundRect">
            <a:avLst>
              <a:gd name="adj" fmla="val 7143"/>
            </a:avLst>
          </a:prstGeom>
          <a:solidFill>
            <a:schemeClr val="bg2"/>
          </a:solidFill>
          <a:ln w="12700">
            <a:solidFill>
              <a:schemeClr val="bg2"/>
            </a:solidFill>
            <a:prstDash val="solid"/>
          </a:ln>
        </p:spPr>
      </p:sp>
      <p:sp>
        <p:nvSpPr>
          <p:cNvPr id="6" name="Text 2"/>
          <p:cNvSpPr txBox="1"/>
          <p:nvPr/>
        </p:nvSpPr>
        <p:spPr>
          <a:xfrm>
            <a:off x="731520" y="4937760"/>
            <a:ext cx="1600200" cy="11887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8 / 8</a:t>
            </a:r>
            <a:endParaRPr lang="en-US" sz="2800" dirty="0"/>
          </a:p>
        </p:txBody>
      </p:sp>
      <p:sp>
        <p:nvSpPr>
          <p:cNvPr id="7" name="Text 3"/>
          <p:cNvSpPr txBox="1"/>
          <p:nvPr/>
        </p:nvSpPr>
        <p:spPr>
          <a:xfrm>
            <a:off x="2377440" y="4937760"/>
            <a:ext cx="1600200" cy="11887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ledger integrity checks pass</a:t>
            </a:r>
            <a:endParaRPr lang="en-US" sz="1200" dirty="0"/>
          </a:p>
        </p:txBody>
      </p:sp>
      <p:sp>
        <p:nvSpPr>
          <p:cNvPr id="8" name="Evidence tile 2"/>
          <p:cNvSpPr/>
          <p:nvPr/>
        </p:nvSpPr>
        <p:spPr>
          <a:xfrm>
            <a:off x="4297680" y="4892040"/>
            <a:ext cx="3566160" cy="1280160"/>
          </a:xfrm>
          <a:prstGeom prst="roundRect">
            <a:avLst>
              <a:gd name="adj" fmla="val 7143"/>
            </a:avLst>
          </a:prstGeom>
          <a:solidFill>
            <a:schemeClr val="bg2"/>
          </a:solidFill>
          <a:ln w="12700">
            <a:solidFill>
              <a:schemeClr val="bg2"/>
            </a:solidFill>
            <a:prstDash val="solid"/>
          </a:ln>
        </p:spPr>
      </p:sp>
      <p:sp>
        <p:nvSpPr>
          <p:cNvPr id="9" name="Text 5"/>
          <p:cNvSpPr txBox="1"/>
          <p:nvPr/>
        </p:nvSpPr>
        <p:spPr>
          <a:xfrm>
            <a:off x="4480560" y="4937760"/>
            <a:ext cx="1600200" cy="11887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Block 70, 71</a:t>
            </a:r>
            <a:endParaRPr lang="en-US" sz="2000" dirty="0"/>
          </a:p>
        </p:txBody>
      </p:sp>
      <p:sp>
        <p:nvSpPr>
          <p:cNvPr id="10" name="Text 6"/>
          <p:cNvSpPr txBox="1"/>
          <p:nvPr/>
        </p:nvSpPr>
        <p:spPr>
          <a:xfrm>
            <a:off x="6126480" y="4937760"/>
            <a:ext cx="1600200" cy="11887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an edited byte is caught, even if the block's own hash is recomputed</a:t>
            </a:r>
            <a:endParaRPr lang="en-US" sz="1200" dirty="0"/>
          </a:p>
        </p:txBody>
      </p:sp>
      <p:sp>
        <p:nvSpPr>
          <p:cNvPr id="11" name="Evidence tile 3"/>
          <p:cNvSpPr/>
          <p:nvPr/>
        </p:nvSpPr>
        <p:spPr>
          <a:xfrm>
            <a:off x="8046720" y="4892040"/>
            <a:ext cx="3566160" cy="1280160"/>
          </a:xfrm>
          <a:prstGeom prst="roundRect">
            <a:avLst>
              <a:gd name="adj" fmla="val 7143"/>
            </a:avLst>
          </a:prstGeom>
          <a:solidFill>
            <a:schemeClr val="bg2"/>
          </a:solidFill>
          <a:ln w="12700">
            <a:solidFill>
              <a:schemeClr val="bg2"/>
            </a:solidFill>
            <a:prstDash val="solid"/>
          </a:ln>
        </p:spPr>
      </p:sp>
      <p:sp>
        <p:nvSpPr>
          <p:cNvPr id="12" name="Text 8"/>
          <p:cNvSpPr txBox="1"/>
          <p:nvPr/>
        </p:nvSpPr>
        <p:spPr>
          <a:xfrm>
            <a:off x="8229600" y="4937760"/>
            <a:ext cx="1600200" cy="11887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1.1 s</a:t>
            </a:r>
            <a:endParaRPr lang="en-US" sz="2800" dirty="0"/>
          </a:p>
        </p:txBody>
      </p:sp>
      <p:sp>
        <p:nvSpPr>
          <p:cNvPr id="13" name="Text 9"/>
          <p:cNvSpPr txBox="1"/>
          <p:nvPr/>
        </p:nvSpPr>
        <p:spPr>
          <a:xfrm>
            <a:off x="9875520" y="4937760"/>
            <a:ext cx="1600200" cy="11887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median ledger write, kept off the response path</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43"/>
                </a:solidFill>
                <a:latin typeface="Cambria" pitchFamily="34" charset="0"/>
                <a:ea typeface="Cambria" pitchFamily="34" charset="-122"/>
                <a:cs typeface="Cambria" pitchFamily="34" charset="-120"/>
              </a:rPr>
              <a:t>Conclusions, limits and next steps</a:t>
            </a:r>
            <a:endParaRPr lang="en-US" sz="3400" dirty="0"/>
          </a:p>
        </p:txBody>
      </p:sp>
      <p:sp>
        <p:nvSpPr>
          <p:cNvPr id="3" name="Conclusion tile 1"/>
          <p:cNvSpPr/>
          <p:nvPr/>
        </p:nvSpPr>
        <p:spPr>
          <a:xfrm>
            <a:off x="548640" y="1371600"/>
            <a:ext cx="5852160" cy="1371600"/>
          </a:xfrm>
          <a:prstGeom prst="roundRect">
            <a:avLst>
              <a:gd name="adj" fmla="val 6667"/>
            </a:avLst>
          </a:prstGeom>
          <a:solidFill>
            <a:schemeClr val="bg2"/>
          </a:solidFill>
          <a:ln w="12700">
            <a:solidFill>
              <a:schemeClr val="bg2"/>
            </a:solidFill>
            <a:prstDash val="solid"/>
          </a:ln>
        </p:spPr>
      </p:sp>
      <p:sp>
        <p:nvSpPr>
          <p:cNvPr id="4" name="Number 1"/>
          <p:cNvSpPr/>
          <p:nvPr/>
        </p:nvSpPr>
        <p:spPr>
          <a:xfrm>
            <a:off x="777240" y="178308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777240" y="1783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554480" y="1463040"/>
            <a:ext cx="4663440" cy="1188720"/>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Agents propose, code decides</a:t>
            </a:r>
            <a:endParaRPr lang="en-US" sz="1500" dirty="0"/>
          </a:p>
          <a:p>
            <a:pPr indent="0" marL="0">
              <a:buNone/>
            </a:pPr>
            <a:r>
              <a:rPr lang="en-US" sz="1400" dirty="0">
                <a:solidFill>
                  <a:schemeClr val="tx1"/>
                </a:solidFill>
                <a:latin typeface="Calibri" pitchFamily="34" charset="0"/>
                <a:ea typeface="Calibri" pitchFamily="34" charset="-122"/>
                <a:cs typeface="Calibri" pitchFamily="34" charset="-120"/>
              </a:rPr>
              <a:t>No unsafe autonomous action in 1,312,874 high-stakes attacks, and 0 of 3,168 policy inputs break the rule.</a:t>
            </a:r>
            <a:endParaRPr lang="en-US" sz="1500" dirty="0"/>
          </a:p>
        </p:txBody>
      </p:sp>
      <p:sp>
        <p:nvSpPr>
          <p:cNvPr id="7" name="Conclusion tile 2"/>
          <p:cNvSpPr/>
          <p:nvPr/>
        </p:nvSpPr>
        <p:spPr>
          <a:xfrm>
            <a:off x="548640" y="2926080"/>
            <a:ext cx="5852160" cy="1371600"/>
          </a:xfrm>
          <a:prstGeom prst="roundRect">
            <a:avLst>
              <a:gd name="adj" fmla="val 6667"/>
            </a:avLst>
          </a:prstGeom>
          <a:solidFill>
            <a:schemeClr val="bg2"/>
          </a:solidFill>
          <a:ln w="12700">
            <a:solidFill>
              <a:schemeClr val="bg2"/>
            </a:solidFill>
            <a:prstDash val="solid"/>
          </a:ln>
        </p:spPr>
      </p:sp>
      <p:sp>
        <p:nvSpPr>
          <p:cNvPr id="8" name="Number 2"/>
          <p:cNvSpPr/>
          <p:nvPr/>
        </p:nvSpPr>
        <p:spPr>
          <a:xfrm>
            <a:off x="777240" y="333756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777240"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554480" y="3017520"/>
            <a:ext cx="4663440" cy="1188720"/>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Guards make misbehaviour harmless</a:t>
            </a:r>
            <a:endParaRPr lang="en-US" sz="1500" dirty="0"/>
          </a:p>
          <a:p>
            <a:pPr indent="0" marL="0">
              <a:buNone/>
            </a:pPr>
            <a:r>
              <a:rPr lang="en-US" sz="1400" dirty="0">
                <a:solidFill>
                  <a:schemeClr val="tx1"/>
                </a:solidFill>
                <a:latin typeface="Calibri" pitchFamily="34" charset="0"/>
                <a:ea typeface="Calibri" pitchFamily="34" charset="-122"/>
                <a:cs typeface="Calibri" pitchFamily="34" charset="-120"/>
              </a:rPr>
              <a:t>Across 30 injected-fault runs, 2 unsafe actions, 1 false closure and 3 wrong-incident answers fall to zero.</a:t>
            </a:r>
            <a:endParaRPr lang="en-US" sz="1500" dirty="0"/>
          </a:p>
        </p:txBody>
      </p:sp>
      <p:sp>
        <p:nvSpPr>
          <p:cNvPr id="11" name="Conclusion tile 3"/>
          <p:cNvSpPr/>
          <p:nvPr/>
        </p:nvSpPr>
        <p:spPr>
          <a:xfrm>
            <a:off x="548640" y="4480560"/>
            <a:ext cx="5852160" cy="1371600"/>
          </a:xfrm>
          <a:prstGeom prst="roundRect">
            <a:avLst>
              <a:gd name="adj" fmla="val 6667"/>
            </a:avLst>
          </a:prstGeom>
          <a:solidFill>
            <a:schemeClr val="bg2"/>
          </a:solidFill>
          <a:ln w="12700">
            <a:solidFill>
              <a:schemeClr val="bg2"/>
            </a:solidFill>
            <a:prstDash val="solid"/>
          </a:ln>
        </p:spPr>
      </p:sp>
      <p:sp>
        <p:nvSpPr>
          <p:cNvPr id="12" name="Number 3"/>
          <p:cNvSpPr/>
          <p:nvPr/>
        </p:nvSpPr>
        <p:spPr>
          <a:xfrm>
            <a:off x="777240" y="489204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777240" y="4892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554480" y="4572000"/>
            <a:ext cx="4663440" cy="1188720"/>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The record is tamper-evident</a:t>
            </a:r>
            <a:endParaRPr lang="en-US" sz="1500" dirty="0"/>
          </a:p>
          <a:p>
            <a:pPr indent="0" marL="0">
              <a:buNone/>
            </a:pPr>
            <a:r>
              <a:rPr lang="en-US" sz="1400" dirty="0">
                <a:solidFill>
                  <a:schemeClr val="tx1"/>
                </a:solidFill>
                <a:latin typeface="Calibri" pitchFamily="34" charset="0"/>
                <a:ea typeface="Calibri" pitchFamily="34" charset="-122"/>
                <a:cs typeface="Calibri" pitchFamily="34" charset="-120"/>
              </a:rPr>
              <a:t>8 of 8 integrity checks pass; edited blocks are caught; a write takes 1.1 s off the response path.</a:t>
            </a:r>
            <a:endParaRPr lang="en-US" sz="1500" dirty="0"/>
          </a:p>
        </p:txBody>
      </p:sp>
      <p:sp>
        <p:nvSpPr>
          <p:cNvPr id="15" name="Text 13"/>
          <p:cNvSpPr txBox="1"/>
          <p:nvPr/>
        </p:nvSpPr>
        <p:spPr>
          <a:xfrm>
            <a:off x="6858000" y="1371600"/>
            <a:ext cx="475488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The price</a:t>
            </a:r>
            <a:endParaRPr lang="en-US" sz="2200" dirty="0"/>
          </a:p>
        </p:txBody>
      </p:sp>
      <p:sp>
        <p:nvSpPr>
          <p:cNvPr id="16" name="Text 14"/>
          <p:cNvSpPr txBox="1"/>
          <p:nvPr/>
        </p:nvSpPr>
        <p:spPr>
          <a:xfrm>
            <a:off x="6858000" y="1828800"/>
            <a:ext cx="4754880" cy="6400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Autonomy falls in step with the patient-dependent share of devices, from 100% to 0%.</a:t>
            </a:r>
            <a:endParaRPr lang="en-US" sz="1500" dirty="0"/>
          </a:p>
        </p:txBody>
      </p:sp>
      <p:sp>
        <p:nvSpPr>
          <p:cNvPr id="17" name="Text 15"/>
          <p:cNvSpPr txBox="1"/>
          <p:nvPr/>
        </p:nvSpPr>
        <p:spPr>
          <a:xfrm>
            <a:off x="6858000" y="2606040"/>
            <a:ext cx="475488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Limits</a:t>
            </a:r>
            <a:endParaRPr lang="en-US" sz="2200" dirty="0"/>
          </a:p>
        </p:txBody>
      </p:sp>
      <p:sp>
        <p:nvSpPr>
          <p:cNvPr id="18" name="Text 16"/>
          <p:cNvSpPr txBox="1"/>
          <p:nvPr/>
        </p:nvSpPr>
        <p:spPr>
          <a:xfrm>
            <a:off x="6858000" y="3063240"/>
            <a:ext cx="475488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Device context and agents are simulated; no live-model results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Half the false alarms are still isolated autonomously in a half-patient-dependent mix</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One Fabric orderer on one 2-CPU host</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 research prototype, not a certified medical product</a:t>
            </a:r>
            <a:endParaRPr lang="en-US" sz="1400" dirty="0"/>
          </a:p>
        </p:txBody>
      </p:sp>
      <p:sp>
        <p:nvSpPr>
          <p:cNvPr id="19" name="Text 17"/>
          <p:cNvSpPr txBox="1"/>
          <p:nvPr/>
        </p:nvSpPr>
        <p:spPr>
          <a:xfrm>
            <a:off x="6858000" y="4846320"/>
            <a:ext cx="475488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Next steps</a:t>
            </a:r>
            <a:endParaRPr lang="en-US" sz="2200" dirty="0"/>
          </a:p>
        </p:txBody>
      </p:sp>
      <p:sp>
        <p:nvSpPr>
          <p:cNvPr id="20" name="Text 18"/>
          <p:cNvSpPr txBox="1"/>
          <p:nvPr/>
        </p:nvSpPr>
        <p:spPr>
          <a:xfrm>
            <a:off x="6858000" y="5303520"/>
            <a:ext cx="4754880" cy="10058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Real language models, with clinician approval studies on hospital device inventories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 multi-orderer ledger network</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linical Navy">
  <a:themeElements>
    <a:clrScheme name="Clinical Navy">
      <a:dk1>
        <a:srgbClr val="1F2933"/>
      </a:dk1>
      <a:lt1>
        <a:srgbClr val="FFFFFF"/>
      </a:lt1>
      <a:dk2>
        <a:srgbClr val="0F2A43"/>
      </a:dk2>
      <a:lt2>
        <a:srgbClr val="EEF4F7"/>
      </a:lt2>
      <a:accent1>
        <a:srgbClr val="1B7F8C"/>
      </a:accent1>
      <a:accent2>
        <a:srgbClr val="D1495B"/>
      </a:accent2>
      <a:accent3>
        <a:srgbClr val="5B6B79"/>
      </a:accent3>
      <a:accent4>
        <a:srgbClr val="7FB7BE"/>
      </a:accent4>
      <a:accent5>
        <a:srgbClr val="C9D6DF"/>
      </a:accent5>
      <a:accent6>
        <a:srgbClr val="2E5E86"/>
      </a:accent6>
      <a:hlink>
        <a:srgbClr val="1B7F8C"/>
      </a:hlink>
      <a:folHlink>
        <a:srgbClr val="5B6B79"/>
      </a:folHlink>
    </a:clrScheme>
    <a:fontScheme name="Clinical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Patient-Aware Agentic Cyber-Resilience for the Internet of Medical Things</dc:title>
  <dc:subject>PptxGenJS Presentation</dc:subject>
  <dc:creator>Rohith V, Prathiv R M, Manimaran S</dc:creator>
  <cp:lastModifiedBy>Rohith V, Prathiv R M, Manimaran S</cp:lastModifiedBy>
  <cp:revision>1</cp:revision>
  <dcterms:created xsi:type="dcterms:W3CDTF">2026-10-17T04:02:17Z</dcterms:created>
  <dcterms:modified xsi:type="dcterms:W3CDTF">2026-10-17T04:02:17Z</dcterms:modified>
</cp:coreProperties>
</file>